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e4cc9bf2d941e6" /><Relationship Type="http://schemas.openxmlformats.org/officeDocument/2006/relationships/extended-properties" Target="/docProps/app.xml" Id="R7fb91dc99e79451e" /><Relationship Type="http://schemas.openxmlformats.org/officeDocument/2006/relationships/officeDocument" Target="/ppt/presentation.xml" Id="Ra75a5330547b4d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1b69666a7d4c40"/>
  </p:sldMasterIdLst>
  <p:notesMasterIdLst>
    <p:notesMasterId xmlns:r="http://schemas.openxmlformats.org/officeDocument/2006/relationships" r:id="R55e75cd7541f4889"/>
  </p:notesMasterIdLst>
  <p:sldIdLst>
    <p:sldId xmlns:r="http://schemas.openxmlformats.org/officeDocument/2006/relationships" id="256" r:id="R0086b7b428c6413f"/>
    <p:sldId xmlns:r="http://schemas.openxmlformats.org/officeDocument/2006/relationships" id="257" r:id="Raec6c453072a4f90"/>
    <p:sldId xmlns:r="http://schemas.openxmlformats.org/officeDocument/2006/relationships" id="258" r:id="R0e569b10618a4efd"/>
    <p:sldId xmlns:r="http://schemas.openxmlformats.org/officeDocument/2006/relationships" id="259" r:id="R621f11b5dbb14f9c"/>
    <p:sldId xmlns:r="http://schemas.openxmlformats.org/officeDocument/2006/relationships" id="260" r:id="R5932fcf14cc84e9f"/>
    <p:sldId xmlns:r="http://schemas.openxmlformats.org/officeDocument/2006/relationships" id="261" r:id="R8d53070743ce4900"/>
    <p:sldId xmlns:r="http://schemas.openxmlformats.org/officeDocument/2006/relationships" id="262" r:id="Rd892ed66ce704b80"/>
    <p:sldId xmlns:r="http://schemas.openxmlformats.org/officeDocument/2006/relationships" id="263" r:id="Rf552ae0e1fcb4c90"/>
    <p:sldId xmlns:r="http://schemas.openxmlformats.org/officeDocument/2006/relationships" id="264" r:id="Rf8c84b6bed294bff"/>
    <p:sldId xmlns:r="http://schemas.openxmlformats.org/officeDocument/2006/relationships" id="265" r:id="Ra9907340679644da"/>
    <p:sldId xmlns:r="http://schemas.openxmlformats.org/officeDocument/2006/relationships" id="266" r:id="R1a52a2daaffb47df"/>
    <p:sldId xmlns:r="http://schemas.openxmlformats.org/officeDocument/2006/relationships" id="267" r:id="R7212ae6cec73438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01acea192a4e71" /><Relationship Type="http://schemas.openxmlformats.org/officeDocument/2006/relationships/slideMaster" Target="/ppt/slideMasters/slideMaster1.xml" Id="R621b69666a7d4c40" /><Relationship Type="http://schemas.openxmlformats.org/officeDocument/2006/relationships/notesMaster" Target="/ppt/notesMasters/notesMaster1.xml" Id="R55e75cd7541f4889" /><Relationship Type="http://schemas.openxmlformats.org/officeDocument/2006/relationships/presProps" Target="/ppt/presProps.xml" Id="Rf37e5728809a408d" /><Relationship Type="http://schemas.openxmlformats.org/officeDocument/2006/relationships/tableStyles" Target="/ppt/tableStyles.xml" Id="Rdd295aef0d814a1e" /><Relationship Type="http://schemas.openxmlformats.org/officeDocument/2006/relationships/slide" Target="/ppt/slides/slide1.xml" Id="R0086b7b428c6413f" /><Relationship Type="http://schemas.openxmlformats.org/officeDocument/2006/relationships/slide" Target="/ppt/slides/slide2.xml" Id="Raec6c453072a4f90" /><Relationship Type="http://schemas.openxmlformats.org/officeDocument/2006/relationships/slide" Target="/ppt/slides/slide3.xml" Id="R0e569b10618a4efd" /><Relationship Type="http://schemas.openxmlformats.org/officeDocument/2006/relationships/slide" Target="/ppt/slides/slide4.xml" Id="R621f11b5dbb14f9c" /><Relationship Type="http://schemas.openxmlformats.org/officeDocument/2006/relationships/slide" Target="/ppt/slides/slide5.xml" Id="R5932fcf14cc84e9f" /><Relationship Type="http://schemas.openxmlformats.org/officeDocument/2006/relationships/slide" Target="/ppt/slides/slide6.xml" Id="R8d53070743ce4900" /><Relationship Type="http://schemas.openxmlformats.org/officeDocument/2006/relationships/slide" Target="/ppt/slides/slide7.xml" Id="Rd892ed66ce704b80" /><Relationship Type="http://schemas.openxmlformats.org/officeDocument/2006/relationships/slide" Target="/ppt/slides/slide8.xml" Id="Rf552ae0e1fcb4c90" /><Relationship Type="http://schemas.openxmlformats.org/officeDocument/2006/relationships/slide" Target="/ppt/slides/slide9.xml" Id="Rf8c84b6bed294bff" /><Relationship Type="http://schemas.openxmlformats.org/officeDocument/2006/relationships/slide" Target="/ppt/slides/slide10.xml" Id="Ra9907340679644da" /><Relationship Type="http://schemas.openxmlformats.org/officeDocument/2006/relationships/slide" Target="/ppt/slides/slide11.xml" Id="R1a52a2daaffb47df" /><Relationship Type="http://schemas.openxmlformats.org/officeDocument/2006/relationships/slide" Target="/ppt/slides/slide12.xml" Id="R7212ae6cec7343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bc4317aab04e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3e59fece2f4d81" /><Relationship Type="http://schemas.openxmlformats.org/officeDocument/2006/relationships/notesMaster" Target="/ppt/notesMasters/notesMaster1.xml" Id="Rfeb2b3de4ad54f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6e716d2f974903" /><Relationship Type="http://schemas.openxmlformats.org/officeDocument/2006/relationships/notesMaster" Target="/ppt/notesMasters/notesMaster1.xml" Id="R54c6787f651c43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a33b8e05074b0f" /><Relationship Type="http://schemas.openxmlformats.org/officeDocument/2006/relationships/notesMaster" Target="/ppt/notesMasters/notesMaster1.xml" Id="R03f383d3880f49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76f5ab0b3f4b86" /><Relationship Type="http://schemas.openxmlformats.org/officeDocument/2006/relationships/notesMaster" Target="/ppt/notesMasters/notesMaster1.xml" Id="R9276d68c5a974e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cde67618054d84" /><Relationship Type="http://schemas.openxmlformats.org/officeDocument/2006/relationships/notesMaster" Target="/ppt/notesMasters/notesMaster1.xml" Id="R01879f7087bb4f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917cc8c9ec418b" /><Relationship Type="http://schemas.openxmlformats.org/officeDocument/2006/relationships/notesMaster" Target="/ppt/notesMasters/notesMaster1.xml" Id="R475cfa5c18e049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1a014aea954e1e" /><Relationship Type="http://schemas.openxmlformats.org/officeDocument/2006/relationships/notesMaster" Target="/ppt/notesMasters/notesMaster1.xml" Id="R39129c9242d240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c84ff6da3749e7" /><Relationship Type="http://schemas.openxmlformats.org/officeDocument/2006/relationships/notesMaster" Target="/ppt/notesMasters/notesMaster1.xml" Id="R2db7647fb14542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0b006047fd4287" /><Relationship Type="http://schemas.openxmlformats.org/officeDocument/2006/relationships/notesMaster" Target="/ppt/notesMasters/notesMaster1.xml" Id="R6ecd9db48abd4c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ef2dd7d5884efe" /><Relationship Type="http://schemas.openxmlformats.org/officeDocument/2006/relationships/notesMaster" Target="/ppt/notesMasters/notesMaster1.xml" Id="R4cb546f1f09045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703d1147444c9c" /><Relationship Type="http://schemas.openxmlformats.org/officeDocument/2006/relationships/notesMaster" Target="/ppt/notesMasters/notesMaster1.xml" Id="Ra2bc9b8ac2904e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ef2865d40d42c7" /><Relationship Type="http://schemas.openxmlformats.org/officeDocument/2006/relationships/notesMaster" Target="/ppt/notesMasters/notesMaster1.xml" Id="R578af44f4c5d4a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인사. 한 줄 요약: 전적 사이트가 보여주는 '숫자'가 아니라, 그 숫자의 '근거'를 보여주는 개인 분석 플랫폼을 만들고 있습니다. 오늘은 구현된 기능과 앞으로의 방향을 10분간 소개. (30초)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문제의식: 전적 사이트는 결과 숫자만 나열하고, 코칭 콘텐츠는 근거 없이 단정. 우리는 반대로 — 말할 수 있는 것(관측)과 추측(가설)을 구조적으로 분리하고, 모든 주장에 근거 ID를 답니다.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아키텍처는 단순한 5단계 파이프라인. 핵심 설계 결정 2가지 — (1) 숫자는 전부 규칙 코드가 계산하고 LLM은 서술만, (2) 원본 데이터를 보존하고 지표에 버전을 달아 공식 변경 시 재계산 가능.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경기 하나를 열면 나오는 것들. 일반 KDA가 아니라 습관을 수치화 — 예: 데스 코스트는 '내가 죽어서 팀이 실제로 뭘 잃었나'를 오브젝트 귀속으로 계산. 위험·스타일 신호는 실력 점수와 분리 표기. (1분 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서비스 화면. 왼쪽은 op.gg처럼 승패 색으로 구분되는 전적 리스트, 오른쪽은 경기 복기 화면 — 퍼포먼스 지표와 위험·스타일 신호가 분리 표기되는 걸 보여주세요. (30초)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지표의 신뢰도를 만드는 밑단. 예전엔 데스 4번에 용 1마리를 4번 중복 과금했는데, 에피소드 엔진이 1:1 귀속으로 고침. '분석 가능한 데스'라는 정직한 분모가 포인트.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'한 판은 실력이 아니다'를 시스템으로 구현. 5차원 프로필은 최근성 가중과 수축 보정으로 과대해석을 막고, 프로필과 같은 공식으로 대표/최고/편차 경기를 자동 선정해 복기 진입점을 만들어 줍니다.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개인 성향 프로필 — 점수마다 표본 보정과 백분위 기준이 라벨로 붙습니다. 오른쪽은 경기 흐름 — 우세도 곡선과 변곡점이 '몇 분에 무슨 일이 흐름을 바꿨나'를 짚어 줍니다. (30초)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LLM에게 '거짓말하지 마'라고 부탁하는 게 아니라, 거짓말이 통과할 수 없는 구조를 만들었습니다. 근거 ID 강제 + 숫자 존재 검증(한글 숫자 표기까지). 검증 실패 시 규칙 기반 리포트로 폴백하므로 서비스는 항상 동작. (1분 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ML은 파이프라인 자체가 산출물. 수집기를 만들어 55→550경기로 늘렸고, 로지스틱 모델이 수제 휴리스틱을 log loss와 캘리브레이션에서 이기기 시작 — 하지만 게이트(모든 지표 승리)를 통과할 때까지 교체하지 않습니다. '모델이 아직 못 이긴다'는 결론도 그대로 보고. (1분 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주 완성. Riot 공식 API에는 없는 '경기 중 초단위 데이터'를 내 게임에 한해 수집하는 로컬 프로그램. 경기 중에는 아무것도 보여주지 않는 수집 전용(정책 준수). 업로드는 멱등이라 재시도 안전, 끝나면 저장된 전적과 자동 대조. 이제 제 PC에 설치해 실사용 수집 시작.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앞으로: (1) 모델이 게이트를 이기면 교체 — 라이브 데이터가 피처가 됩니다. (2) 티어 라벨 코호트. (3) 가장 큰 차별화인 리플레이 CV — 피할 수 있던 데스 판정. (4) 하이라이트 쇼케이스. 마무리: 증거 없이는 말하지 않고, 모델은 이길 때만 채택한다는 원칙으로 계속 갑니다. 감사합니다.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b4217f3274da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1969199f674c4b" /><Relationship Type="http://schemas.openxmlformats.org/officeDocument/2006/relationships/slideLayout" Target="/ppt/slideLayouts/slideLayout1.xml" Id="R6a3f5cf822374d1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3f5cf822374d1b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e5dec5b154c6b" /><Relationship Type="http://schemas.openxmlformats.org/officeDocument/2006/relationships/notesSlide" Target="/ppt/notesSlides/notesSlide1.xml" Id="Rdf6ffeeca34e4e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c18daa0f448d4" /><Relationship Type="http://schemas.openxmlformats.org/officeDocument/2006/relationships/notesSlide" Target="/ppt/notesSlides/notesSlide2.xml" Id="R2d855206548447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2d5a5457442b4" /><Relationship Type="http://schemas.openxmlformats.org/officeDocument/2006/relationships/notesSlide" Target="/ppt/notesSlides/notesSlide3.xml" Id="Re67d22e8105d48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19cbd8777497d" /><Relationship Type="http://schemas.openxmlformats.org/officeDocument/2006/relationships/notesSlide" Target="/ppt/notesSlides/notesSlide4.xml" Id="R60612cad292e45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6950ce28f446a" /><Relationship Type="http://schemas.openxmlformats.org/officeDocument/2006/relationships/image" Target="/ppt/media/image.png" Id="Rc31b531dcfaf49a9" /><Relationship Type="http://schemas.openxmlformats.org/officeDocument/2006/relationships/image" Target="/ppt/media/image2.png" Id="Ra73735dd6cff4283" /><Relationship Type="http://schemas.openxmlformats.org/officeDocument/2006/relationships/notesSlide" Target="/ppt/notesSlides/notesSlide5.xml" Id="Ra8d4f2ba72c146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0abb9a40d4567" /><Relationship Type="http://schemas.openxmlformats.org/officeDocument/2006/relationships/notesSlide" Target="/ppt/notesSlides/notesSlide6.xml" Id="R7847f9750db64b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fcb36849e4d9a" /><Relationship Type="http://schemas.openxmlformats.org/officeDocument/2006/relationships/notesSlide" Target="/ppt/notesSlides/notesSlide7.xml" Id="R57e34a60a4f44a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2b61d271d4d63" /><Relationship Type="http://schemas.openxmlformats.org/officeDocument/2006/relationships/image" Target="/ppt/media/image3.png" Id="R7d20534437fe488b" /><Relationship Type="http://schemas.openxmlformats.org/officeDocument/2006/relationships/image" Target="/ppt/media/image4.png" Id="Ra6316bb9d44b4f6b" /><Relationship Type="http://schemas.openxmlformats.org/officeDocument/2006/relationships/notesSlide" Target="/ppt/notesSlides/notesSlide8.xml" Id="Rb8613802251549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40a1527f041e7" /><Relationship Type="http://schemas.openxmlformats.org/officeDocument/2006/relationships/notesSlide" Target="/ppt/notesSlides/notesSlide9.xml" Id="Rdea2c6210a5749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e9140d1fd4b69" /><Relationship Type="http://schemas.openxmlformats.org/officeDocument/2006/relationships/chart" Target="/ppt/slides/charts/chart1.xml" Id="Rf636d93371b642fd" /><Relationship Type="http://schemas.openxmlformats.org/officeDocument/2006/relationships/notesSlide" Target="/ppt/notesSlides/notesSlide10.xml" Id="R8781d21258e14a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ba121079a4d3a" /><Relationship Type="http://schemas.openxmlformats.org/officeDocument/2006/relationships/notesSlide" Target="/ppt/notesSlides/notesSlide11.xml" Id="R171de8bb134242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2df185edc4c9e" /><Relationship Type="http://schemas.openxmlformats.org/officeDocument/2006/relationships/notesSlide" Target="/ppt/notesSlides/notesSlide12.xml" Id="R08a5e1300e1c42b9" /></Relationships>
</file>

<file path=ppt/slides/charts/chart1.xml><?xml version="1.0" encoding="utf-8"?>
<c:chartSpace xmlns:c="http://schemas.openxmlformats.org/drawingml/2006/chart">
  <c:lang val="en-US"/>
  <c:roundedCorners val="1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경기 수</c:v>
                </c:pt>
              </c:strCache>
            </c:strRef>
          </c:tx>
          <c:spPr>
            <a:solidFill xmlns:a="http://schemas.openxmlformats.org/drawingml/2006/main">
              <a:srgbClr val="C89B3C"/>
            </a:solidFill>
          </c:spP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1E2A3A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초기</c:v>
                </c:pt>
                <c:pt idx="1">
                  <c:v>1차 수집</c:v>
                </c:pt>
                <c:pt idx="2">
                  <c:v>2차 수집</c:v>
                </c:pt>
                <c:pt idx="3">
                  <c:v>현재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150</c:v>
                </c:pt>
                <c:pt idx="2">
                  <c:v>350</c:v>
                </c:pt>
                <c:pt idx="3">
                  <c:v>526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0" i="0" u="none">
                  <a:solidFill>
                    <a:srgbClr val="1E2A3A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5A6B7E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2"/>
              </a:solidFill>
              <a:prstDash val="solid"/>
            </a:ln>
          </c:spPr>
        </c:majorGridlines>
        <c:numFmt formatCode="General" sourceLinked="0"/>
        <c:majorUnit val="10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5A6B7E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3EB6266-D6A7-4151-9509-C5ADBA26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822960"/>
            <a:ext cx="3108960" cy="279806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C89B3C">
                <a:alpha val="2800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DAB7DA-1A0D-4C03-8308-B1FCBB7B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554480"/>
            <a:ext cx="1463040" cy="1316736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C89B3C">
                <a:alpha val="4000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C56A04-9A04-499E-9A60-6DD8F815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377440" cy="2139696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0AC8B9">
                <a:alpha val="28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46AFD0B-A835-4A7A-922E-22818D53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6035040"/>
            <a:ext cx="914400" cy="82296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0AC8B9">
                <a:alpha val="40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D1A1E8-4174-4FBF-95AF-CF85140C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2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300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EVIDENCE-BASED PERSONAL ANALYTICS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A10AF3-8946-442D-A540-B1091D84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105156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LoL AI 분석 플랫폼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7918690-2C75-4ACB-ABEE-F53BC797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2900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E8C878"/>
                </a:solidFill>
                <a:latin typeface="Malgun Gothic"/>
                <a:ea typeface="Malgun Gothic"/>
                <a:cs typeface="Malgun Gothic"/>
              </a:rPr>
              <a:t>증거 기반 개인 전적 분석 — 구현된 기능과 향후 방향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22B01D3-B39E-42DD-8B59-853CD219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89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8FA3BC"/>
                </a:solidFill>
                <a:latin typeface="Malgun Gothic"/>
                <a:ea typeface="Malgun Gothic"/>
                <a:cs typeface="Malgun Gothic"/>
              </a:rPr>
              <a:t>2026. 07. 21</a:t>
            </a:r>
          </a:p>
        </p:txBody>
      </p:sp>
    </p:spTree>
    <p:extLst>
      <p:ext uri="{BB962C8B-B14F-4D97-AF65-F5344CB8AC3E}">
        <p14:creationId xmlns:p14="http://schemas.microsoft.com/office/powerpoint/2010/main" val="15454428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D3881C-F4C8-4A23-8A34-C4AA72E9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FEATURES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0191C68-62C0-4800-BFBC-D0C1E98B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한 경기의 흐름과 반복되는 플레이를 함께 본다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293C12-39B6-418A-8DBD-D8422472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C31973B-A658-4C03-A169-26B810E8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BF3F2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76FD5E1-89C1-4B99-ADD5-E333E694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9B3B33"/>
                </a:solidFill>
                <a:latin typeface="Malgun Gothic"/>
                <a:ea typeface="Malgun Gothic"/>
                <a:cs typeface="Malgun Gothic"/>
              </a:rPr>
              <a:t>경기 단위 분석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8E4BC8B-2295-48BD-8949-1C1100D3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47548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400"/>
              </a:spcAft>
              <a:buChar char="•"/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타임라인과 주요 사건 요약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데스 비용·리드 전환 등 플레이 지표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미니맵 스냅샷과 킬·오브젝트 로그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분석 근거와 신뢰도 표시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8364B8A-A637-4139-AF7B-D43C7E99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0F7F6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E66E793-A025-40D8-8FCC-E7D260F8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96596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누적 플레이 분석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D6C7EBB-715C-4A50-A8D5-EF7ADC1B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14600"/>
            <a:ext cx="48006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400"/>
              </a:spcAft>
              <a:buChar char="•"/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역할·챔피언별 경기 기록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반복되는 사망 위치와 시간대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대표 경기와 평소 대비 변화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계산된 근거를 바탕으로 AI 요약</a:t>
            </a:r>
          </a:p>
        </p:txBody>
      </p:sp>
    </p:spTree>
    <p:extLst>
      <p:ext uri="{BB962C8B-B14F-4D97-AF65-F5344CB8AC3E}">
        <p14:creationId xmlns:p14="http://schemas.microsoft.com/office/powerpoint/2010/main" val="74415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7ED5F9-FE37-49FE-9C1B-A8F4C77C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ARCHITECTURE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CB2256-F400-45E2-ABFD-941B5A1F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데이터 파이프라인 — 숫자는 규칙이, 서술은 AI가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953B61C-FFD2-444C-A9A8-4A071EAB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FBF8887-F9BC-45BF-B962-2448EF9C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1911096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0A1428"/>
          </a:solidFill>
          <a:ln xmlns:a="http://schemas.openxmlformats.org/drawingml/2006/main" w="12700">
            <a:solidFill>
              <a:srgbClr val="0A142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095E82-6A06-4227-8C74-6833337B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58568"/>
            <a:ext cx="19110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Riot API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63DFF2F-3FCE-4DFD-821D-7D88F30F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679192"/>
            <a:ext cx="176479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경기·타임라인 수집</a:t>
            </a: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레이트리밋·캐시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5D858F5-948D-4269-A4EB-B17963FB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588" y="2606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D4FCEA5-A943-4667-858C-40DFC8E0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148840"/>
            <a:ext cx="1911096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C32FFF7-E3D0-483C-9C2B-1DC494A5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258568"/>
            <a:ext cx="19110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PostgreSQL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777172D-928B-4AA9-A874-00F04A4B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2679192"/>
            <a:ext cx="176479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원본 JSONB 보존</a:t>
            </a: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+ 정규화 테이블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EF3CD5C-B7CC-4490-8CB6-BE40F607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3732" y="2606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6C02638-A627-46CA-9BDC-0735054F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148840"/>
            <a:ext cx="1911096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F4E6B"/>
          </a:solidFill>
          <a:ln xmlns:a="http://schemas.openxmlformats.org/drawingml/2006/main" w="12700">
            <a:solidFill>
              <a:srgbClr val="1F4E6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F5A47EA-F128-4F12-8FD6-1E8FA3F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258568"/>
            <a:ext cx="19110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분석 엔진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C2D335A-8A6D-4C98-92FF-F5837A32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679192"/>
            <a:ext cx="176479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지표 9종·에피소드</a:t>
            </a: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프로필·패턴 (규칙 계산)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6FD864D-B523-4C2B-93E6-4FB00B55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876" y="2606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E2C356D-CAAB-4F91-AB70-364ADCA1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148840"/>
            <a:ext cx="1911096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0B7A70"/>
          </a:solidFill>
          <a:ln xmlns:a="http://schemas.openxmlformats.org/drawingml/2006/main" w="12700">
            <a:solidFill>
              <a:srgbClr val="0B7A7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00B13BE-200D-4CEC-A6D6-7D569DC8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258568"/>
            <a:ext cx="19110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리포트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6E19920-E5D7-4609-B400-4E01CFE0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679192"/>
            <a:ext cx="176479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Gemini는 서술만</a:t>
            </a: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숫자·근거 강제 검증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B963B8B-67B9-4E75-900D-742C7444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020" y="2606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12F6269-EBA7-40CE-91F7-B4B1397D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148840"/>
            <a:ext cx="1911096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D5D88A3-2593-4EFD-A0E6-F73B8541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258568"/>
            <a:ext cx="19110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웹 UI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82DF785-9D91-44D6-BE03-A1E235C2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2679192"/>
            <a:ext cx="176479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Next.js</a:t>
            </a: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복기 화면·프로필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2275421-3641-4290-8643-D764B74D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11091672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D559F53-8EF2-49CA-89FB-4A4BDAD6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설계 원칙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12E529E-694D-40B6-B765-62BF6B50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00016"/>
            <a:ext cx="1042416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Char char="•"/>
            </a:pPr>
            <a:r>
              <a:rPr sz="14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모든 수치·패턴은 규칙 코드가 계산 — LLM은 새 숫자를 만들 수 없음 (환각 통제 + 비용 절감)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Char char="•"/>
            </a:pPr>
            <a:r>
              <a:rPr sz="14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원본 JSONB 보존 + 지표 버전 관리 — 공식이 바뀌면 재수집 없이 전체 재계산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Char char="•"/>
            </a:pPr>
            <a:r>
              <a:rPr sz="14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Docker Compose 로컬 스택 (FastAPI · Next.js · PostgreSQL 16) — 테스트 223개 통과 유지</a:t>
            </a:r>
          </a:p>
        </p:txBody>
      </p:sp>
    </p:spTree>
    <p:extLst>
      <p:ext uri="{BB962C8B-B14F-4D97-AF65-F5344CB8AC3E}">
        <p14:creationId xmlns:p14="http://schemas.microsoft.com/office/powerpoint/2010/main" val="24272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30FED3-1014-45B9-9278-B0AA83CD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FEATURES 1/4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686F27-1F29-4353-AF3F-8ECFD4DA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경기 복기 — 습관을 수치화하는 지표 9종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3AB1C5-FE66-4AFF-9BC2-0DE70B25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3452BCB-533B-44D3-ABD8-D6F50E29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8031096-6EB5-4AF3-927B-8A5D051F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48256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32B8DE8-24B8-4D12-AF58-244EFB2A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993392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데스 코스트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8D4388-6A70-4460-AA6B-901B7203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450592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내 데스 90초 안에 넘어간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오브젝트·골드 손실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E2EFA33-635A-40BC-ACE1-B7D2E29E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C625C27-D573-4EB5-AA59-A7BD5870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048256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AC8B9"/>
          </a:solidFill>
          <a:ln xmlns:a="http://schemas.openxmlformats.org/drawingml/2006/main" w="12700">
            <a:solidFill>
              <a:srgbClr val="0AC8B9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266F864-D63E-40F9-9665-AECB1E95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993392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스로우 인덱스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079B20-113B-47E8-9786-FAD91EF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450592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유리할 때(+1000g)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죽어서 흐름을 내준 정도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3274801-554C-45F3-B590-787A1ADC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828800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5924F1A-5433-4EB9-9B69-02072F8F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048256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1F8F2AD-437E-42DC-A567-15A6FDDE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1993392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골드 리텐션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9410B05-A087-4FC2-846D-844849CC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450592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킬 골드를 아이템으로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바꾸기 전에 잃는 습관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8388BBF-C384-4217-957A-1E2D21A1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84448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0FE3736-E258-499A-837F-4BAE80D7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03904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AC8B9"/>
          </a:solidFill>
          <a:ln xmlns:a="http://schemas.openxmlformats.org/drawingml/2006/main" w="12700">
            <a:solidFill>
              <a:srgbClr val="0AC8B9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6DD4EEB-C74E-4A87-9437-05F4FE83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749040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갬블러 지수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ACA71E8-229A-476A-B241-608C1F33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206240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고립 데스·딥다이브 등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고위험 스타일 신호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A88B75E-1F00-410F-97C5-F59CF373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4448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B9F68B9-5CA6-4003-A68D-815165ED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803904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5B96055-0AB0-4D8E-90DF-EA51B53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749040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한타 지속력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8602A2-BE08-4C68-924A-5C967278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206240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교전 중 이탈/유지가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딜 지분에 남긴 흔적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C4BB765-CBDC-4DA9-A141-FE0B6DCA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84448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402D9C3-4F1D-46EB-B5E5-A8221DC0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03904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AC8B9"/>
          </a:solidFill>
          <a:ln xmlns:a="http://schemas.openxmlformats.org/drawingml/2006/main" w="12700">
            <a:solidFill>
              <a:srgbClr val="0AC8B9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D860D7E-5377-4727-9E7A-F1078E0B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3749040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데스 가속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8655986-7592-496E-894B-023F544F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4206240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한 번 죽은 뒤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연쇄 데스로 무너지는 패턴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C88D91B-03CA-4321-8FD7-DB6E7AC5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11091672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F7F6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4BD2F59-66AB-409D-87FA-EC588289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321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+ 우세도 곡선 · 변곡점 탐지 · 킬/데스 히트맵 · 데스존 — 지표는 '퍼포먼스'와 '위험·스타일 신호'로 분리 표기 (스타일 ≠ 실력 점수)</a:t>
            </a:r>
          </a:p>
        </p:txBody>
      </p:sp>
    </p:spTree>
    <p:extLst>
      <p:ext uri="{BB962C8B-B14F-4D97-AF65-F5344CB8AC3E}">
        <p14:creationId xmlns:p14="http://schemas.microsoft.com/office/powerpoint/2010/main" val="1445398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40AC390-AACD-4767-BC64-5BE68583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SCREENSHOT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E60C8D1-C61B-4F62-9B23-08606BED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실제 화면 — 전적 리스트와 경기 복기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0916912-4EED-4D89-837A-3BC9C3F3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C0F0D2A-78B9-42B6-BB4E-9285892A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486400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10141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b531dcfaf49a9"/>
          <a:srcRect xmlns:a="http://schemas.openxmlformats.org/drawingml/2006/main" l="-25498" t="0" r="-25498" b="0"/>
          <a:stretch xmlns:a="http://schemas.openxmlformats.org/drawingml/2006/main"/>
        </p:blipFill>
        <p:spPr>
          <a:xfrm xmlns:a="http://schemas.openxmlformats.org/drawingml/2006/main">
            <a:off x="713232" y="1828800"/>
            <a:ext cx="5157216" cy="420624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D2D5B25-9D36-4B22-A80C-8AB4A9D0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82512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승/패 컬러 매치 리스트 — 챔피언·KDA·딜·시야 한눈에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8C4FE9F-63C6-4DA6-958C-D01834A2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376672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10141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735dd6cff4283"/>
          <a:srcRect xmlns:a="http://schemas.openxmlformats.org/drawingml/2006/main" l="-25815" t="0" r="-25815" b="0"/>
          <a:stretch xmlns:a="http://schemas.openxmlformats.org/drawingml/2006/main"/>
        </p:blipFill>
        <p:spPr>
          <a:xfrm xmlns:a="http://schemas.openxmlformats.org/drawingml/2006/main">
            <a:off x="6400800" y="1828800"/>
            <a:ext cx="5102352" cy="420624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F2475C84-B40D-4207-9892-C0CABCDE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6382512"/>
            <a:ext cx="53766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경기 복기 — 퍼포먼스 지표와 위험·스타일 신호 분리 표기</a:t>
            </a:r>
          </a:p>
        </p:txBody>
      </p:sp>
    </p:spTree>
    <p:extLst>
      <p:ext uri="{BB962C8B-B14F-4D97-AF65-F5344CB8AC3E}">
        <p14:creationId xmlns:p14="http://schemas.microsoft.com/office/powerpoint/2010/main" val="1477788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23C0C8-CBB6-49F1-88E7-5438BF53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FEATURES 2/4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CCE68C2-9EEA-4FDA-ADD3-F3A8166C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에피소드 엔진 — '그 데스가 비쌌는가'를 계산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F00D126-07D7-4CBE-9EC8-25F2B99F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302E538-640D-46C9-8E97-C0858817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11091672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005BD9A-A780-43B3-B594-EF8C5CB6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21408"/>
            <a:ext cx="457200" cy="41148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9FD9B3F-5444-4625-B4A5-57498665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965960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한타 클러스터링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6FD7F9-EF8E-43FF-83E9-4D87B5CB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65960"/>
            <a:ext cx="6766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킬·어시를 시간(≤20초)+거리(≤3500u)로 묶어 교전 단위 복원 — 위치 결측 시 신뢰도 라벨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E72152A-7CCA-4F1E-8BB5-AF283E62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53512"/>
            <a:ext cx="11091672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DE2F830-A8E9-4D9C-9AF5-8C2694F3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00400"/>
            <a:ext cx="457200" cy="41148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AC8B9"/>
          </a:solidFill>
          <a:ln xmlns:a="http://schemas.openxmlformats.org/drawingml/2006/main" w="12700">
            <a:solidFill>
              <a:srgbClr val="0AC8B9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245204E-9D0C-4E1F-947C-E0ADA154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044952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오브젝트 ↔ 데스 귀속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716E2F0-A68D-4440-AF95-6EABF6D3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044952"/>
            <a:ext cx="6766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용·바론이 살아있는 시간창에서, 내 데스 90초 내 상실만 연결 — 오브젝트 하나는 한 번만 계산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183B9F4-82B6-45C9-8AFD-C6390B01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11091672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69CDDCE-5F10-4765-BFAD-9AFCECB4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79392"/>
            <a:ext cx="457200" cy="41148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A8EB6CC-2E1A-424F-87F8-CA09F80A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23944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데스 부검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8D3AAC8-92DD-4D89-9EAE-A87B85DE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123944"/>
            <a:ext cx="6766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'분석 가능한 데스' 분모를 명시 — 전체 데스가 아니라 판정 가능한 데스만으로 비율 산출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9EB70E1-D275-49D8-AA4C-7991478D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11496"/>
            <a:ext cx="11091672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C7D71CB-F48D-4869-8E36-6C8E469A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358384"/>
            <a:ext cx="457200" cy="41148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AC8B9"/>
          </a:solidFill>
          <a:ln xmlns:a="http://schemas.openxmlformats.org/drawingml/2006/main" w="12700">
            <a:solidFill>
              <a:srgbClr val="0AC8B9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15DAF46-E8EF-4839-95BD-15DE44CC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02936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크로스 매치 패턴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387E205-D2F1-4716-9D15-A62D1C15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202936"/>
            <a:ext cx="6766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최근 N경기에서 반복되는 습관을 규칙으로 발굴 → 근거 경기 ID와 함께 제시</a:t>
            </a:r>
          </a:p>
        </p:txBody>
      </p:sp>
    </p:spTree>
    <p:extLst>
      <p:ext uri="{BB962C8B-B14F-4D97-AF65-F5344CB8AC3E}">
        <p14:creationId xmlns:p14="http://schemas.microsoft.com/office/powerpoint/2010/main" val="5267446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CD4C83F-3ADF-4F9C-866B-2253117A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FEATURES 3/4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B8BBA9B-362D-4B36-9D54-83472E07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개인 프로필 — 한 판의 기복이 아닌 경향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3AAA13-5C85-4839-BBC4-01287AB3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90C7278-916E-4573-AFBF-72D3FCAB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DB6D2C-8F69-4BA0-B8B0-40E90EC9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93392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5차원 성향 프로필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29D15A5-F6E3-491C-900C-44A614D6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578608"/>
            <a:ext cx="274320" cy="24688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DD50A7-2A68-47F9-AC53-3C646A85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514600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초반 성장력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08CDAF9-1DCD-4064-954C-8BB56AE5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5536"/>
            <a:ext cx="274320" cy="24688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E7CDB52-5FF0-46F2-98F1-3A34E776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081528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자원 전환력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01276D8-6091-49E5-8861-CAA924A3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712464"/>
            <a:ext cx="274320" cy="24688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C1B2AE7-AED0-4E62-A5AD-E86BFB2F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648456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위험 관리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630B8BB-FB43-45F0-A33F-934699F4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279392"/>
            <a:ext cx="274320" cy="24688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E3CF06B-3192-42C9-865A-86C1F445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215384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오브젝트 준비도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416E52E-F46C-4890-97CD-4C5FB0ED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846320"/>
            <a:ext cx="274320" cy="24688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E0EF286-D1DE-417C-A392-BA23CCB8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782312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교전 기여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3CD707B-DDC7-4EB5-89E3-07C45ECC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94960"/>
            <a:ext cx="50292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Char char="•"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최근 경기 가중(반감기 14일) + 표본 수축 보정</a:t>
            </a:r>
          </a:p>
          <a:p xmlns:a="http://schemas.openxmlformats.org/drawingml/2006/main">
            <a:pPr marL="342900" indent="-342900">
              <a:spcAft>
                <a:spcPts val="600"/>
              </a:spcAft>
              <a:buChar char="•"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코호트 퍼센타일은 '로컬 표본 기준' 명시 (과대 해석 차단)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9D7D0C3-8CDF-4572-AB7F-169A3655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83080"/>
            <a:ext cx="5239512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2F52F5F-0419-4F09-A88B-32F7F6C3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대표 경기 자동 선정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1D69870-1A4A-4033-B95A-8958E7F3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560320"/>
            <a:ext cx="46177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79F9EA1-F1C4-4092-9CF8-699C28B8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5176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대표 경기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044009C-AD2A-4634-86C8-AFF0C77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1752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내 평소 성향과 가장 가까운 판 — 복기 시작점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B85D74C-F831-4FE4-B2E0-5CB95244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749040"/>
            <a:ext cx="46177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1FF7317-AAAF-417D-885B-969829F0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84048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최고 경기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29EC3AB-144C-4885-B17A-56691CDF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0624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데이터 커버리지 우선 + 최고 평균 — 강점 확인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2832BF7-887E-43DC-9367-0689CA0C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937760"/>
            <a:ext cx="46177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09DCBB1-55C5-49CF-8244-04493070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02920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9B3B33"/>
                </a:solidFill>
                <a:latin typeface="Malgun Gothic"/>
                <a:ea typeface="Malgun Gothic"/>
                <a:cs typeface="Malgun Gothic"/>
              </a:rPr>
              <a:t>편차 경기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EA5169E-2DB2-4980-B64D-74E7A57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39496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평소와 가장 달랐던 판 — '최악'이 아니라 '달랐던'</a:t>
            </a:r>
          </a:p>
        </p:txBody>
      </p:sp>
    </p:spTree>
    <p:extLst>
      <p:ext uri="{BB962C8B-B14F-4D97-AF65-F5344CB8AC3E}">
        <p14:creationId xmlns:p14="http://schemas.microsoft.com/office/powerpoint/2010/main" val="7337146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273C2E4-DECE-4A8C-9579-D81003C2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SCREENSHOT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AE6F58-E8F1-49E9-861D-83CADD1B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실제 화면 — 성향 프로필과 우세도 복기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4F6B944-6548-4A22-BB5D-5A49713F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6115037-A303-4DEB-8F28-B11F3713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486400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10141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0534437fe488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3232" y="2148840"/>
            <a:ext cx="5157216" cy="384048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01454CF-786A-4863-891B-2C6DCA18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82512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5차원 성향 프로필 — 수축 보정·백분위·표본 라벨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C5250FC-46D2-465E-9CA4-DC29F084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376672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10141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16bb9d44b4f6b"/>
          <a:srcRect xmlns:a="http://schemas.openxmlformats.org/drawingml/2006/main" l="-25815" t="0" r="-25815" b="0"/>
          <a:stretch xmlns:a="http://schemas.openxmlformats.org/drawingml/2006/main"/>
        </p:blipFill>
        <p:spPr>
          <a:xfrm xmlns:a="http://schemas.openxmlformats.org/drawingml/2006/main">
            <a:off x="6400800" y="1828800"/>
            <a:ext cx="5102352" cy="420624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D3C5654-D797-4256-8B47-74431496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6382512"/>
            <a:ext cx="53766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골드 격차 · 우세도 흐름 · 이 판의 변곡점 타임라인</a:t>
            </a:r>
          </a:p>
        </p:txBody>
      </p:sp>
    </p:spTree>
    <p:extLst>
      <p:ext uri="{BB962C8B-B14F-4D97-AF65-F5344CB8AC3E}">
        <p14:creationId xmlns:p14="http://schemas.microsoft.com/office/powerpoint/2010/main" val="1149263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E5A92EA-8493-4E06-9871-5613A1D5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FEATURES 4/4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5B6644-A8D8-478C-A31E-4D693D8F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AI 리포트 — 환각을 프롬프트가 아니라 구조로 차단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8BBACEE-FCF4-400E-9CB0-4CD571D1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D416EF7-B106-4231-AA04-019A1712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2651760" cy="123444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1F4E6B"/>
          </a:solidFill>
          <a:ln xmlns:a="http://schemas.openxmlformats.org/drawingml/2006/main" w="12700">
            <a:solidFill>
              <a:srgbClr val="1F4E6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8DAA8B-55A3-4C87-8252-DFDBB49E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39112"/>
            <a:ext cx="2651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LLM 출력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FB84D5E-38D6-47D1-A9E9-569E9B2F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DF2F8"/>
                </a:solidFill>
                <a:latin typeface="Malgun Gothic"/>
                <a:ea typeface="Malgun Gothic"/>
                <a:cs typeface="Malgun Gothic"/>
              </a:rPr>
              <a:t>요약 · 관측 · 가설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DF2F8"/>
                </a:solidFill>
                <a:latin typeface="Malgun Gothic"/>
                <a:ea typeface="Malgun Gothic"/>
                <a:cs typeface="Malgun Gothic"/>
              </a:rPr>
              <a:t>· 연습 제안(실험형)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629D7AB-CF02-444E-93E7-83ECF159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3500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0566584-AFD9-4FD2-97B3-91CAA4E1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1965960"/>
            <a:ext cx="4846320" cy="123444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9B3B33"/>
          </a:solidFill>
          <a:ln xmlns:a="http://schemas.openxmlformats.org/drawingml/2006/main" w="12700">
            <a:solidFill>
              <a:srgbClr val="9B3B3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E57A1E2-3135-40D9-83F9-60871A98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2039112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검증기 (Sanitizer)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5E1D7A-CA02-42E3-885D-918CE964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2423160"/>
            <a:ext cx="4663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DF2F8"/>
                </a:solidFill>
                <a:latin typeface="Malgun Gothic"/>
                <a:ea typeface="Malgun Gothic"/>
                <a:cs typeface="Malgun Gothic"/>
              </a:rPr>
              <a:t>근거 ref 없는 관측 탈락 · 입력에 없는 숫자 탈락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DF2F8"/>
                </a:solidFill>
                <a:latin typeface="Malgun Gothic"/>
                <a:ea typeface="Malgun Gothic"/>
                <a:cs typeface="Malgun Gothic"/>
              </a:rPr>
              <a:t>(아라비아+한글 숫자 표기까지) · 요약 위반 시 전체 폐기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C8BD948-AF0F-49A0-814C-751E1214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23500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9F0BA52-3F3C-4500-86E1-6E56036C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256" y="1965960"/>
            <a:ext cx="2651760" cy="123444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0B7A70"/>
          </a:solidFill>
          <a:ln xmlns:a="http://schemas.openxmlformats.org/drawingml/2006/main" w="12700">
            <a:solidFill>
              <a:srgbClr val="0B7A7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32BFA45-DEFD-47A7-90C7-9C3C913D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256" y="2039112"/>
            <a:ext cx="2651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리포트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AA5C384-8DD2-4EA7-B1A7-E55579F7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2423160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DF2F8"/>
                </a:solidFill>
                <a:latin typeface="Malgun Gothic"/>
                <a:ea typeface="Malgun Gothic"/>
                <a:cs typeface="Malgun Gothic"/>
              </a:rPr>
              <a:t>통과한 문장만 노출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DF2F8"/>
                </a:solidFill>
                <a:latin typeface="Malgun Gothic"/>
                <a:ea typeface="Malgun Gothic"/>
                <a:cs typeface="Malgun Gothic"/>
              </a:rPr>
              <a:t>실패 시 규칙 리포트로 폴백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BF75861-CACF-463B-837E-17D9AE69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11091672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DF14098-E4BC-4F56-8828-4B4E8D1C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22192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강제되는 규칙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D66C920-990D-49B7-9FDB-FEFAD768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24528"/>
            <a:ext cx="104241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Char char="•"/>
            </a:pPr>
            <a:r>
              <a:rPr sz="13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관측은 입력 payload에 존재하는 근거 ID(패턴·경기)를 반드시 인용 — 없는 근거를 대면 그 문장은 자동 탈락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Char char="•"/>
            </a:pPr>
            <a:r>
              <a:rPr sz="13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숫자 가드: 입력에 없는 숫자는 탈락 — "삼십오 퍼센트", "9만 골드", "5할" 같은 한글 표기까지 값으로 환산해 검사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Char char="•"/>
            </a:pPr>
            <a:r>
              <a:rPr sz="13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강점·약점·데이터 한계·복기 질문은 규칙 코드 소유 — LLM이 덮어쓸 수 없음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Char char="•"/>
            </a:pPr>
            <a:r>
              <a:rPr sz="13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가설은 "~일 수 있다" + '확정 아님' 라벨, 제안은 명령이 아니라 다음 판에 확인할 실험으로</a:t>
            </a:r>
          </a:p>
        </p:txBody>
      </p:sp>
    </p:spTree>
    <p:extLst>
      <p:ext uri="{BB962C8B-B14F-4D97-AF65-F5344CB8AC3E}">
        <p14:creationId xmlns:p14="http://schemas.microsoft.com/office/powerpoint/2010/main" val="17398551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B064C52-68E8-43E0-BA2E-D23A6F4E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DATA &amp; ML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C5303D2-5B6C-4493-B450-B4D04B08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경기 흐름을 분 단위 승리 확률로 예측한다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0F5465A-B675-4672-9D96-8FB1D27B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D66796A-3C89-491F-A973-CEAE2010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486400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14C028-A23D-4545-8D44-1AF12B54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56816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학습 데이터 확대 과정</a:t>
            </a:r>
          </a:p>
        </p:txBody>
      </p:sp>
      <p:graphicFrame>
        <p:nvGraphicFramePr>
          <p:cNvPr id="35" name="Chart 0"/>
          <p:cNvGraphicFramePr/>
          <p:nvPr/>
        </p:nvGraphicFramePr>
        <p:xfrm>
          <a:off xmlns:a="http://schemas.openxmlformats.org/drawingml/2006/main" x="868680" y="2377440"/>
          <a:ext xmlns:a="http://schemas.openxmlformats.org/drawingml/2006/main" cx="4846320" cy="30175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36d93371b642fd"/>
          </a:graphicData>
        </a:graphic>
      </p:graphicFrame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C95B6AE-3BDD-4F55-96D4-556D383E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32120"/>
            <a:ext cx="4846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현재 526경기를 사용했습니다.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다양한 패치와 티어 데이터가 더 필요합니다.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B2B7024-0F12-427D-ADF8-F5BC98ED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783080"/>
            <a:ext cx="5330952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AFA048A-1985-4CB2-B7D9-1FBFA0A9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56816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분 단위 승리 확률 예측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85E6AC4-1F18-4CA7-8A23-5E714C62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32304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E7C706F-7B99-46C0-9FB8-C94BD793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432304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정보 1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F1755FF-32C0-4C5B-AB4C-5E7DD3E7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432304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정보 2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337257E-289D-491F-9C71-42F1F6AA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2432304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200" b="1">
                <a:solidFill>
                  <a:srgbClr val="5A6B7E"/>
                </a:solidFill>
              </a:defRPr>
            </a:pPr>
            <a:r>
              <a:rPr sz="1200" b="1">
                <a:solidFill>
                  <a:srgbClr val="5A6B7E"/>
                </a:solidFill>
              </a:rPr>
              <a:t>상태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BF0C163-2BAF-4751-B651-88C1BA80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44368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입력 데이터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A87B7C7-AD32-4C49-9B92-7DA34123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944368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골드·경험치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A8DA954-62D6-4398-82AA-907C4D0A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944368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CS·오브젝트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CA0ED3C-9AB9-450C-A09C-661BA50F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2944368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분 단위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82AC483-3378-4E3B-BD05-323D6AB7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56432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예측 결과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66A9AE6-FBF7-4D11-B029-5C6FAC6E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456432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승리 확률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2ED11BB-20F1-49EA-9B76-C9C5BD3C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456432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변화 흐름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2C51D48-F662-4CB8-8860-BCA5EC71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3456432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경기 복기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BCC9355-3B21-4147-8D2D-21F4DE3F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68496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학습 현황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0573FEB-5323-4C11-B444-B56DAC45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968496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526경기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2D8253C-DFC4-4E2B-801F-8CB9FB25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968496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표본 확대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6EEC209-A34A-408B-AEB4-B6981F3E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3968496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9B3B33"/>
                </a:solidFill>
                <a:latin typeface="Malgun Gothic"/>
                <a:ea typeface="Malgun Gothic"/>
                <a:cs typeface="Malgun Gothic"/>
              </a:rPr>
              <a:t>학습 필요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BD3E40E-3044-421D-9882-32700709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26080"/>
            <a:ext cx="4754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0EA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0AD075BC-B279-4EAB-8128-55EA5305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48006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Char char="•"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각 시점까지 확인된 경기 정보만 사용합니다.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Char char="•"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현재는 초기 모델이며 더 많은 패치와 티어 데이터가 필요합니다.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Char char="•"/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데이터가 쌓이면 예측 안정성과 설명력을 계속 개선할 계획입니다.</a:t>
            </a:r>
          </a:p>
        </p:txBody>
      </p:sp>
    </p:spTree>
    <p:extLst>
      <p:ext uri="{BB962C8B-B14F-4D97-AF65-F5344CB8AC3E}">
        <p14:creationId xmlns:p14="http://schemas.microsoft.com/office/powerpoint/2010/main" val="17814081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EA910FD-DDD5-42BB-B2C4-252C403D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NEW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47D0F47-EBFB-4401-A7B3-1FD2B467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Live Client 컴패니언 — 내 게임을 실시간 수집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31EFB7A-8D84-4632-9D45-A5742EE6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1895D09-A2D2-4990-8BFE-2B3DA959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03120"/>
            <a:ext cx="2484882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10203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46E4BB0-0A6F-4420-8857-D9F888B9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31136"/>
            <a:ext cx="248488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E8C878"/>
                </a:solidFill>
                <a:latin typeface="Malgun Gothic"/>
                <a:ea typeface="Malgun Gothic"/>
                <a:cs typeface="Malgun Gothic"/>
              </a:rPr>
              <a:t>게임 감지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1E0CA36-0DF3-4D41-860F-A639CED0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33472"/>
            <a:ext cx="230200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로컬 Live Client</a:t>
            </a: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API 폴링 (1초)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028D80F-1907-4679-B809-569A3067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946" y="256032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21DA9F3-8D4E-429C-876C-169FFD5C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" y="2103120"/>
            <a:ext cx="2484882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10203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DEF8D3D-42B2-4C85-9A2E-E71E9F5D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" y="2231136"/>
            <a:ext cx="248488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E8C878"/>
                </a:solidFill>
                <a:latin typeface="Malgun Gothic"/>
                <a:ea typeface="Malgun Gothic"/>
                <a:cs typeface="Malgun Gothic"/>
              </a:rPr>
              <a:t>로컬 버퍼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92BBD1-0082-4785-A6BF-2A49EAD9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010" y="2633472"/>
            <a:ext cx="230200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SQLite 큐</a:t>
            </a: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체력·골드·이벤트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21C974C-DA63-4555-9C8C-174E18B8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876" y="256032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8B949B1-1542-444B-BC46-70BC3440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03120"/>
            <a:ext cx="2484882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10203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84892C5-59C6-4AEF-AC74-D37F9CB5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1136"/>
            <a:ext cx="248488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E8C878"/>
                </a:solidFill>
                <a:latin typeface="Malgun Gothic"/>
                <a:ea typeface="Malgun Gothic"/>
                <a:cs typeface="Malgun Gothic"/>
              </a:rPr>
              <a:t>경기 종료 후 업로드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5B2C7-A369-40F2-8795-690691CF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2633472"/>
            <a:ext cx="230200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재시도 안전</a:t>
            </a: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(멱등 업로드)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530ABE1-7DFA-4789-8A46-9FD882AF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806" y="256032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800291B-E116-42D4-BF62-0B731161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430" y="2103120"/>
            <a:ext cx="2484882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0B7A70"/>
          </a:solidFill>
          <a:ln xmlns:a="http://schemas.openxmlformats.org/drawingml/2006/main" w="12700">
            <a:solidFill>
              <a:srgbClr val="0B7A7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C52076E-1B6A-496A-A012-26F93012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430" y="2231136"/>
            <a:ext cx="248488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전적 대조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1A341FD-59DF-4757-8E0A-F73DA0DC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870" y="2633472"/>
            <a:ext cx="230200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riot id + 시작 시각으로</a:t>
            </a: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저장된 경기와 자동 연결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130D6AD-D4FA-4197-8712-A8F889AB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11091672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9808FB3-3D7D-4541-9F86-7F98025B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32504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수집 전용 · Opt-in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F05B9FA-E7A4-40B4-B247-931F75B9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32504"/>
            <a:ext cx="7315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경기 중 어떤 분석·조언도 표시하지 않음 (정책 준수) — 본인 게임만 수집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3C87AE5-D8B6-44B2-B3A9-38D5F857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82312"/>
            <a:ext cx="11091672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35D2EA6-8E8F-4028-BCB8-3A8B44B3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37176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Riot API에 없는 데이터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399303D-02B6-4C6B-A9EA-148D23EE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37176"/>
            <a:ext cx="7315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초단위 내 체력·골드·스탯 — 체력 기반 위험 판단, 틸트 신호 정밀화의 재료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CD2DCA7-77B3-40FF-BA1E-5FDF70A6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86984"/>
            <a:ext cx="11091672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D32A639-D64B-4263-86FE-3095AA76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41848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설치형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C492021-2964-479D-BC60-49B2933A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41848"/>
            <a:ext cx="7315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Python 표준 라이브러리만 사용한 단일 파일 — 게임 PC에서 바로 실행</a:t>
            </a:r>
          </a:p>
        </p:txBody>
      </p:sp>
    </p:spTree>
    <p:extLst>
      <p:ext uri="{BB962C8B-B14F-4D97-AF65-F5344CB8AC3E}">
        <p14:creationId xmlns:p14="http://schemas.microsoft.com/office/powerpoint/2010/main" val="1937070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A0E329-E7B5-4456-A7FF-32977B60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-640080"/>
            <a:ext cx="2194560" cy="197510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C89B3C">
                <a:alpha val="3500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149B8A7-63BD-496E-8614-4BD08139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31520" y="5303520"/>
            <a:ext cx="2011680" cy="181051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0AC8B9">
                <a:alpha val="3000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8C02341-9C44-4FAC-BCFA-D5CDE78B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ROADMAP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306C4B-E669-47D2-A393-9F4A8790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향후 방향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6C28BC5-7A44-499D-BFD6-E5CB8202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01368"/>
            <a:ext cx="566928" cy="51206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471C769-7AF5-4745-B18D-3F52A8E2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01368"/>
            <a:ext cx="5669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F0FA254-C5EB-4029-97B9-A53BFF87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691640"/>
            <a:ext cx="3931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우세도 모델 교체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D95D959-C534-4A8A-AF8F-A0C3BE55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91640"/>
            <a:ext cx="6217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EBDD0"/>
                </a:solidFill>
                <a:latin typeface="Malgun Gothic"/>
                <a:ea typeface="Malgun Gothic"/>
                <a:cs typeface="Malgun Gothic"/>
              </a:rPr>
              <a:t>부스팅 + 검증 전용 분할 — 게이트를 '이기면' 교체, 라이브 데이터 피처 추가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D34D532-F154-4333-ACD5-70C04B71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34056"/>
            <a:ext cx="566928" cy="51206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9050">
            <a:solidFill>
              <a:srgbClr val="0AC8B9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916BC8-3C21-4ECF-A769-2F94208F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34056"/>
            <a:ext cx="5669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F5B34CB-92EA-41DF-B000-26D83FAA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24328"/>
            <a:ext cx="3931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티어 라벨 코호트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6733185-649C-49E5-B9C8-6D71988C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24328"/>
            <a:ext cx="6217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EBDD0"/>
                </a:solidFill>
                <a:latin typeface="Malgun Gothic"/>
                <a:ea typeface="Malgun Gothic"/>
                <a:cs typeface="Malgun Gothic"/>
              </a:rPr>
              <a:t>수집 시 티어 스냅샷 저장 → 프로필 퍼센타일이 티어 기준으로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7050A6F-D7F2-47C0-AEF7-6F2638A7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66744"/>
            <a:ext cx="566928" cy="51206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754F478-1DB9-498C-9DDA-8DBFC5F2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66744"/>
            <a:ext cx="5669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1F66EF7-4F28-409A-897A-ABA5AC86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557016"/>
            <a:ext cx="3931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리플레이 분석기 (C2)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309B4BA-0392-434E-A545-7989333D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57016"/>
            <a:ext cx="6217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EBDD0"/>
                </a:solidFill>
                <a:latin typeface="Malgun Gothic"/>
                <a:ea typeface="Malgun Gothic"/>
                <a:cs typeface="Malgun Gothic"/>
              </a:rPr>
              <a:t>리플레이 미니맵 CV → 10인 좌표·시야 실측 — '피할 수 있던 데스' 판정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777C708-0279-4C62-B8DA-F7A8795B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99432"/>
            <a:ext cx="566928" cy="51206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9050">
            <a:solidFill>
              <a:srgbClr val="0AC8B9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E509875-0973-48BD-8C68-AC03DC31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99432"/>
            <a:ext cx="5669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3EA52C7-8FC2-4C72-B85E-35F7027B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489704"/>
            <a:ext cx="3931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하이라이트 &amp; 리플레이 시어터 (C3)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0F46D65-481C-49F7-A082-E0BAE44B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89704"/>
            <a:ext cx="6217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EBDD0"/>
                </a:solidFill>
                <a:latin typeface="Malgun Gothic"/>
                <a:ea typeface="Malgun Gothic"/>
                <a:cs typeface="Malgun Gothic"/>
              </a:rPr>
              <a:t>대표 장면 자동 후보 → 본인이 선택해 공개, 끝난 경기를 중계처럼 재생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D2207AF-F9CF-46B5-A4A2-D62765BA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550+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76480CB-112D-4EDD-BF10-3687D3C5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1264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8FA3BC"/>
                </a:solidFill>
                <a:latin typeface="Malgun Gothic"/>
                <a:ea typeface="Malgun Gothic"/>
                <a:cs typeface="Malgun Gothic"/>
              </a:rPr>
              <a:t>수집 경기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37B0109-20B9-4F4D-B6DE-88E3708A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48640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9종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70C365B-3FEC-4922-8649-C74974D6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1264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8FA3BC"/>
                </a:solidFill>
                <a:latin typeface="Malgun Gothic"/>
                <a:ea typeface="Malgun Gothic"/>
                <a:cs typeface="Malgun Gothic"/>
              </a:rPr>
              <a:t>습관 지표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F96E928-962E-4216-BA6D-402CC412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223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F86EBB3-2BD7-456F-A605-BBE86933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264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8FA3BC"/>
                </a:solidFill>
                <a:latin typeface="Malgun Gothic"/>
                <a:ea typeface="Malgun Gothic"/>
                <a:cs typeface="Malgun Gothic"/>
              </a:rPr>
              <a:t>자동 테스트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BEC50F5-6BB0-4964-86DC-D034A0EE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48640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9/12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4708AB2-87C0-4E92-B43D-4CB50B60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1264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8FA3BC"/>
                </a:solidFill>
                <a:latin typeface="Malgun Gothic"/>
                <a:ea typeface="Malgun Gothic"/>
                <a:cs typeface="Malgun Gothic"/>
              </a:rPr>
              <a:t>완료 페이즈</a:t>
            </a:r>
          </a:p>
        </p:txBody>
      </p:sp>
    </p:spTree>
    <p:extLst>
      <p:ext uri="{BB962C8B-B14F-4D97-AF65-F5344CB8AC3E}">
        <p14:creationId xmlns:p14="http://schemas.microsoft.com/office/powerpoint/2010/main" val="50989414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2026-07-19T13:13:12.9400000Z</dcterms:created>
  <dcterms:modified xsi:type="dcterms:W3CDTF">2026-07-19T13:13:12.9400000Z</dcterms:modified>
</coreProperties>
</file>