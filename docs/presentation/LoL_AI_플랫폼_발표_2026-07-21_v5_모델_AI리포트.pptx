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d0097977214b39" /><Relationship Type="http://schemas.openxmlformats.org/officeDocument/2006/relationships/extended-properties" Target="/docProps/app.xml" Id="R3eaec699b1574920" /><Relationship Type="http://schemas.openxmlformats.org/officeDocument/2006/relationships/officeDocument" Target="/ppt/presentation.xml" Id="R7e0e76e411b845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d10aa094144443"/>
  </p:sldMasterIdLst>
  <p:notesMasterIdLst>
    <p:notesMasterId xmlns:r="http://schemas.openxmlformats.org/officeDocument/2006/relationships" r:id="Rf70f586d29f8406e"/>
  </p:notesMasterIdLst>
  <p:sldIdLst>
    <p:sldId xmlns:r="http://schemas.openxmlformats.org/officeDocument/2006/relationships" id="256" r:id="R803bfab017e5487b"/>
    <p:sldId xmlns:r="http://schemas.openxmlformats.org/officeDocument/2006/relationships" id="257" r:id="Rf559ff600f4f4d89"/>
    <p:sldId xmlns:r="http://schemas.openxmlformats.org/officeDocument/2006/relationships" id="258" r:id="Rd153555f75124874"/>
    <p:sldId xmlns:r="http://schemas.openxmlformats.org/officeDocument/2006/relationships" id="259" r:id="R20bf89b588864262"/>
    <p:sldId xmlns:r="http://schemas.openxmlformats.org/officeDocument/2006/relationships" id="260" r:id="R2addfee18d7d4885"/>
    <p:sldId xmlns:r="http://schemas.openxmlformats.org/officeDocument/2006/relationships" id="261" r:id="R9e00b68a2b234b5a"/>
    <p:sldId xmlns:r="http://schemas.openxmlformats.org/officeDocument/2006/relationships" id="262" r:id="Rbe0ecb6048964efe"/>
    <p:sldId xmlns:r="http://schemas.openxmlformats.org/officeDocument/2006/relationships" id="263" r:id="R7b2eafa8b4e4402c"/>
    <p:sldId xmlns:r="http://schemas.openxmlformats.org/officeDocument/2006/relationships" id="264" r:id="R7014cb35a65a45f6"/>
    <p:sldId xmlns:r="http://schemas.openxmlformats.org/officeDocument/2006/relationships" id="265" r:id="Redc572e3ff5a49d1"/>
    <p:sldId xmlns:r="http://schemas.openxmlformats.org/officeDocument/2006/relationships" id="266" r:id="R3940f254840f4e7c"/>
    <p:sldId xmlns:r="http://schemas.openxmlformats.org/officeDocument/2006/relationships" id="267" r:id="Rc903bb5bd4644c9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c442413e1645ad" /><Relationship Type="http://schemas.openxmlformats.org/officeDocument/2006/relationships/slideMaster" Target="/ppt/slideMasters/slideMaster1.xml" Id="Rb5d10aa094144443" /><Relationship Type="http://schemas.openxmlformats.org/officeDocument/2006/relationships/notesMaster" Target="/ppt/notesMasters/notesMaster1.xml" Id="Rf70f586d29f8406e" /><Relationship Type="http://schemas.openxmlformats.org/officeDocument/2006/relationships/presProps" Target="/ppt/presProps.xml" Id="R75af59ab523a458f" /><Relationship Type="http://schemas.openxmlformats.org/officeDocument/2006/relationships/tableStyles" Target="/ppt/tableStyles.xml" Id="R7da6881c20494525" /><Relationship Type="http://schemas.openxmlformats.org/officeDocument/2006/relationships/slide" Target="/ppt/slides/slide1.xml" Id="R803bfab017e5487b" /><Relationship Type="http://schemas.openxmlformats.org/officeDocument/2006/relationships/slide" Target="/ppt/slides/slide2.xml" Id="Rf559ff600f4f4d89" /><Relationship Type="http://schemas.openxmlformats.org/officeDocument/2006/relationships/slide" Target="/ppt/slides/slide3.xml" Id="Rd153555f75124874" /><Relationship Type="http://schemas.openxmlformats.org/officeDocument/2006/relationships/slide" Target="/ppt/slides/slide4.xml" Id="R20bf89b588864262" /><Relationship Type="http://schemas.openxmlformats.org/officeDocument/2006/relationships/slide" Target="/ppt/slides/slide5.xml" Id="R2addfee18d7d4885" /><Relationship Type="http://schemas.openxmlformats.org/officeDocument/2006/relationships/slide" Target="/ppt/slides/slide6.xml" Id="R9e00b68a2b234b5a" /><Relationship Type="http://schemas.openxmlformats.org/officeDocument/2006/relationships/slide" Target="/ppt/slides/slide7.xml" Id="Rbe0ecb6048964efe" /><Relationship Type="http://schemas.openxmlformats.org/officeDocument/2006/relationships/slide" Target="/ppt/slides/slide8.xml" Id="R7b2eafa8b4e4402c" /><Relationship Type="http://schemas.openxmlformats.org/officeDocument/2006/relationships/slide" Target="/ppt/slides/slide9.xml" Id="R7014cb35a65a45f6" /><Relationship Type="http://schemas.openxmlformats.org/officeDocument/2006/relationships/slide" Target="/ppt/slides/slide10.xml" Id="Redc572e3ff5a49d1" /><Relationship Type="http://schemas.openxmlformats.org/officeDocument/2006/relationships/slide" Target="/ppt/slides/slide11.xml" Id="R3940f254840f4e7c" /><Relationship Type="http://schemas.openxmlformats.org/officeDocument/2006/relationships/slide" Target="/ppt/slides/slide12.xml" Id="Rc903bb5bd4644c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c031628d5d4f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0e10152a18443f" /><Relationship Type="http://schemas.openxmlformats.org/officeDocument/2006/relationships/notesMaster" Target="/ppt/notesMasters/notesMaster1.xml" Id="R733044cb1a33442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5e3e16b85c415d" /><Relationship Type="http://schemas.openxmlformats.org/officeDocument/2006/relationships/notesMaster" Target="/ppt/notesMasters/notesMaster1.xml" Id="Rc6279efacbca46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c6f8dc06ea4833" /><Relationship Type="http://schemas.openxmlformats.org/officeDocument/2006/relationships/notesMaster" Target="/ppt/notesMasters/notesMaster1.xml" Id="R5fef3651d3cc43f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283551c9ed4608" /><Relationship Type="http://schemas.openxmlformats.org/officeDocument/2006/relationships/notesMaster" Target="/ppt/notesMasters/notesMaster1.xml" Id="R484b739c3f7a4a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6c02563dc747ca" /><Relationship Type="http://schemas.openxmlformats.org/officeDocument/2006/relationships/notesMaster" Target="/ppt/notesMasters/notesMaster1.xml" Id="Re5a43840a4d741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e15a47b51f4f30" /><Relationship Type="http://schemas.openxmlformats.org/officeDocument/2006/relationships/notesMaster" Target="/ppt/notesMasters/notesMaster1.xml" Id="Rab2014586a244e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d77cb1a6274306" /><Relationship Type="http://schemas.openxmlformats.org/officeDocument/2006/relationships/notesMaster" Target="/ppt/notesMasters/notesMaster1.xml" Id="Re06a15538fc44d4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d02b1ac32d46f4" /><Relationship Type="http://schemas.openxmlformats.org/officeDocument/2006/relationships/notesMaster" Target="/ppt/notesMasters/notesMaster1.xml" Id="R59d72f0cb96947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4e122dae0b641e6" /><Relationship Type="http://schemas.openxmlformats.org/officeDocument/2006/relationships/notesMaster" Target="/ppt/notesMasters/notesMaster1.xml" Id="Rf6ddc2662aeb43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82272c93ba419e" /><Relationship Type="http://schemas.openxmlformats.org/officeDocument/2006/relationships/notesMaster" Target="/ppt/notesMasters/notesMaster1.xml" Id="R6cbe6d3d57c741e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e9b01598ae49b3" /><Relationship Type="http://schemas.openxmlformats.org/officeDocument/2006/relationships/notesMaster" Target="/ppt/notesMasters/notesMaster1.xml" Id="Ra43d7bb3902d43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dd2e274e2c84a12" /><Relationship Type="http://schemas.openxmlformats.org/officeDocument/2006/relationships/notesMaster" Target="/ppt/notesMasters/notesMaster1.xml" Id="R39401097bc3741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인사. 한 줄 요약: 전적 사이트가 보여주는 '숫자'가 아니라, 그 숫자의 '근거'를 보여주는 개인 분석 플랫폼을 만들고 있습니다. 오늘은 구현된 기능과 앞으로의 방향을 10분간 소개. (30초)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문제의식: 전적 사이트는 결과 숫자만 나열하고, 코칭 콘텐츠는 근거 없이 단정. 우리는 반대로 — 말할 수 있는 것(관측)과 추측(가설)을 구조적으로 분리하고, 모든 주장에 근거 ID를 답니다.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아키텍처는 단순한 5단계 파이프라인. 핵심 설계 결정 2가지 — (1) 숫자는 전부 규칙 코드가 계산하고 LLM은 서술만, (2) 원본 데이터를 보존하고 지표에 버전을 달아 공식 변경 시 재계산 가능.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경기 하나를 열면 나오는 것들. 일반 KDA가 아니라 습관을 수치화 — 예: 데스 코스트는 '내가 죽어서 팀이 실제로 뭘 잃었나'를 오브젝트 귀속으로 계산. 위험·스타일 신호는 실력 점수와 분리 표기. (1분 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서비스 화면. 왼쪽은 op.gg처럼 승패 색으로 구분되는 전적 리스트, 오른쪽은 경기 복기 화면 — 퍼포먼스 지표와 위험·스타일 신호가 분리 표기되는 걸 보여주세요. (30초)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지표의 신뢰도를 만드는 밑단. 예전엔 데스 4번에 용 1마리를 4번 중복 과금했는데, 에피소드 엔진이 1:1 귀속으로 고침. '분석 가능한 데스'라는 정직한 분모가 포인트.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'한 판은 실력이 아니다'를 시스템으로 구현. 5차원 프로필은 최근성 가중과 수축 보정으로 과대해석을 막고, 프로필과 같은 공식으로 대표/최고/편차 경기를 자동 선정해 복기 진입점을 만들어 줍니다.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왼쪽은 개인 성향 프로필 — 점수마다 표본 보정과 백분위 기준이 라벨로 붙습니다. 오른쪽은 경기 흐름 — 우세도 곡선과 변곡점이 '몇 분에 무슨 일이 흐름을 바꿨나'를 짚어 줍니다. (30초)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LLM에게 '거짓말하지 마'라고 부탁하는 게 아니라, 거짓말이 통과할 수 없는 구조를 만들었습니다. 근거 ID 강제 + 숫자 존재 검증(한글 숫자 표기까지). 검증 실패 시 규칙 기반 리포트로 폴백하므로 서비스는 항상 동작. (1분 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ML은 파이프라인 자체가 산출물. 수집기를 만들어 55→550경기로 늘렸고, 로지스틱 모델이 수제 휴리스틱을 log loss와 캘리브레이션에서 이기기 시작 — 하지만 게이트(모든 지표 승리)를 통과할 때까지 교체하지 않습니다. '모델이 아직 못 이긴다'는 결론도 그대로 보고. (1분 30초)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주 완성. Riot 공식 API에는 없는 '경기 중 초단위 데이터'를 내 게임에 한해 수집하는 로컬 프로그램. 경기 중에는 아무것도 보여주지 않는 수집 전용(정책 준수). 업로드는 멱등이라 재시도 안전, 끝나면 저장된 전적과 자동 대조. 이제 제 PC에 설치해 실사용 수집 시작.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앞으로: (1) 모델이 게이트를 이기면 교체 — 라이브 데이터가 피처가 됩니다. (2) 티어 라벨 코호트. (3) 가장 큰 차별화인 리플레이 CV — 피할 수 있던 데스 판정. (4) 하이라이트 쇼케이스. 마무리: 증거 없이는 말하지 않고, 모델은 이길 때만 채택한다는 원칙으로 계속 갑니다. 감사합니다. (1분)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556bdd447b4de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cf4921a5d04b96" /><Relationship Type="http://schemas.openxmlformats.org/officeDocument/2006/relationships/slideLayout" Target="/ppt/slideLayouts/slideLayout1.xml" Id="Rc013173813ec4c5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13173813ec4c58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81c2ae12c41d0" /><Relationship Type="http://schemas.openxmlformats.org/officeDocument/2006/relationships/notesSlide" Target="/ppt/notesSlides/notesSlide1.xml" Id="R421a37cc0bcb49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25f7784434409" /><Relationship Type="http://schemas.openxmlformats.org/officeDocument/2006/relationships/notesSlide" Target="/ppt/notesSlides/notesSlide2.xml" Id="R8d26c516a9e640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59e75fde94571" /><Relationship Type="http://schemas.openxmlformats.org/officeDocument/2006/relationships/notesSlide" Target="/ppt/notesSlides/notesSlide3.xml" Id="R666dabf00dbf49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385d695764f07" /><Relationship Type="http://schemas.openxmlformats.org/officeDocument/2006/relationships/notesSlide" Target="/ppt/notesSlides/notesSlide4.xml" Id="Rb35ae0a806d249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bf4307508f4216" /><Relationship Type="http://schemas.openxmlformats.org/officeDocument/2006/relationships/image" Target="/ppt/media/image.png" Id="R0e516496b923403d" /><Relationship Type="http://schemas.openxmlformats.org/officeDocument/2006/relationships/image" Target="/ppt/media/image2.png" Id="Rd427c47e26ea4b5b" /><Relationship Type="http://schemas.openxmlformats.org/officeDocument/2006/relationships/notesSlide" Target="/ppt/notesSlides/notesSlide5.xml" Id="R4937b6214add48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1fa3f956f4be0" /><Relationship Type="http://schemas.openxmlformats.org/officeDocument/2006/relationships/notesSlide" Target="/ppt/notesSlides/notesSlide6.xml" Id="Ra3b4d161fa7045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0ddd990914b8c" /><Relationship Type="http://schemas.openxmlformats.org/officeDocument/2006/relationships/notesSlide" Target="/ppt/notesSlides/notesSlide7.xml" Id="R8214cc38c84b48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b7b36059b4a42" /><Relationship Type="http://schemas.openxmlformats.org/officeDocument/2006/relationships/image" Target="/ppt/media/image3.png" Id="R11a13ba68268458f" /><Relationship Type="http://schemas.openxmlformats.org/officeDocument/2006/relationships/image" Target="/ppt/media/image4.png" Id="R1c93c447a2e44dbd" /><Relationship Type="http://schemas.openxmlformats.org/officeDocument/2006/relationships/notesSlide" Target="/ppt/notesSlides/notesSlide8.xml" Id="R8488e1849ebe4ae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f5710d8374b95" /><Relationship Type="http://schemas.openxmlformats.org/officeDocument/2006/relationships/notesSlide" Target="/ppt/notesSlides/notesSlide9.xml" Id="Rad3694a6b2c44b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fc3a2f80842da" /><Relationship Type="http://schemas.openxmlformats.org/officeDocument/2006/relationships/chart" Target="/ppt/slides/charts/chart1.xml" Id="Rc1d2e7a759a1410c" /><Relationship Type="http://schemas.openxmlformats.org/officeDocument/2006/relationships/notesSlide" Target="/ppt/notesSlides/notesSlide10.xml" Id="R5f490fb8a59149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6c6dad6d4411b" /><Relationship Type="http://schemas.openxmlformats.org/officeDocument/2006/relationships/notesSlide" Target="/ppt/notesSlides/notesSlide11.xml" Id="R56f3c5a0a1ca415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51b5a3496409e" /><Relationship Type="http://schemas.openxmlformats.org/officeDocument/2006/relationships/notesSlide" Target="/ppt/notesSlides/notesSlide12.xml" Id="R68e71525c2b04f1a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블루팀 모델 예상 승률</c:v>
          </c:tx>
          <c:spPr>
            <a:solidFill xmlns:a="http://schemas.openxmlformats.org/drawingml/2006/main">
              <a:srgbClr val="0B7A70"/>
            </a:solidFill>
          </c:spPr>
          <c:marker>
            <c:symbol val="none"/>
          </c:marker>
          <c:dLbls/>
          <c:cat>
            <c:strLit>
              <c:ptCount val="37"/>
              <c:pt idx="0">
                <c:v>0분</c:v>
              </c:pt>
              <c:pt idx="1">
                <c:v>1분</c:v>
              </c:pt>
              <c:pt idx="2">
                <c:v>2분</c:v>
              </c:pt>
              <c:pt idx="3">
                <c:v>3분</c:v>
              </c:pt>
              <c:pt idx="4">
                <c:v>4분</c:v>
              </c:pt>
              <c:pt idx="5">
                <c:v>5분</c:v>
              </c:pt>
              <c:pt idx="6">
                <c:v>6분</c:v>
              </c:pt>
              <c:pt idx="7">
                <c:v>7분</c:v>
              </c:pt>
              <c:pt idx="8">
                <c:v>8분</c:v>
              </c:pt>
              <c:pt idx="9">
                <c:v>9분</c:v>
              </c:pt>
              <c:pt idx="10">
                <c:v>10분</c:v>
              </c:pt>
              <c:pt idx="11">
                <c:v>11분</c:v>
              </c:pt>
              <c:pt idx="12">
                <c:v>12분</c:v>
              </c:pt>
              <c:pt idx="13">
                <c:v>13분</c:v>
              </c:pt>
              <c:pt idx="14">
                <c:v>14분</c:v>
              </c:pt>
              <c:pt idx="15">
                <c:v>15분</c:v>
              </c:pt>
              <c:pt idx="16">
                <c:v>16분</c:v>
              </c:pt>
              <c:pt idx="17">
                <c:v>17분</c:v>
              </c:pt>
              <c:pt idx="18">
                <c:v>18분</c:v>
              </c:pt>
              <c:pt idx="19">
                <c:v>19분</c:v>
              </c:pt>
              <c:pt idx="20">
                <c:v>20분</c:v>
              </c:pt>
              <c:pt idx="21">
                <c:v>21분</c:v>
              </c:pt>
              <c:pt idx="22">
                <c:v>22분</c:v>
              </c:pt>
              <c:pt idx="23">
                <c:v>23분</c:v>
              </c:pt>
              <c:pt idx="24">
                <c:v>24분</c:v>
              </c:pt>
              <c:pt idx="25">
                <c:v>25분</c:v>
              </c:pt>
              <c:pt idx="26">
                <c:v>26분</c:v>
              </c:pt>
              <c:pt idx="27">
                <c:v>27분</c:v>
              </c:pt>
              <c:pt idx="28">
                <c:v>28분</c:v>
              </c:pt>
              <c:pt idx="29">
                <c:v>29분</c:v>
              </c:pt>
              <c:pt idx="30">
                <c:v>30분</c:v>
              </c:pt>
              <c:pt idx="31">
                <c:v>31분</c:v>
              </c:pt>
              <c:pt idx="32">
                <c:v>32분</c:v>
              </c:pt>
              <c:pt idx="33">
                <c:v>33분</c:v>
              </c:pt>
              <c:pt idx="34">
                <c:v>34분</c:v>
              </c:pt>
              <c:pt idx="35">
                <c:v>35분</c:v>
              </c:pt>
              <c:pt idx="36">
                <c:v>36분</c:v>
              </c:pt>
            </c:strLit>
          </c:cat>
          <c:val>
            <c:numLit>
              <c:formatCode>General</c:formatCode>
              <c:ptCount val="37"/>
              <c:pt idx="0">
                <c:v>52.7</c:v>
              </c:pt>
              <c:pt idx="1">
                <c:v>52.5</c:v>
              </c:pt>
              <c:pt idx="2">
                <c:v>47</c:v>
              </c:pt>
              <c:pt idx="3">
                <c:v>46.6</c:v>
              </c:pt>
              <c:pt idx="4">
                <c:v>51.2</c:v>
              </c:pt>
              <c:pt idx="5">
                <c:v>54</c:v>
              </c:pt>
              <c:pt idx="6">
                <c:v>44.7</c:v>
              </c:pt>
              <c:pt idx="7">
                <c:v>41.9</c:v>
              </c:pt>
              <c:pt idx="8">
                <c:v>38.3</c:v>
              </c:pt>
              <c:pt idx="9">
                <c:v>39.7</c:v>
              </c:pt>
              <c:pt idx="10">
                <c:v>60.8</c:v>
              </c:pt>
              <c:pt idx="11">
                <c:v>63.3</c:v>
              </c:pt>
              <c:pt idx="12">
                <c:v>60.5</c:v>
              </c:pt>
              <c:pt idx="13">
                <c:v>71.6</c:v>
              </c:pt>
              <c:pt idx="14">
                <c:v>73.5</c:v>
              </c:pt>
              <c:pt idx="15">
                <c:v>54.8</c:v>
              </c:pt>
              <c:pt idx="16">
                <c:v>51.7</c:v>
              </c:pt>
              <c:pt idx="17">
                <c:v>61.1</c:v>
              </c:pt>
              <c:pt idx="18">
                <c:v>65.2</c:v>
              </c:pt>
              <c:pt idx="19">
                <c:v>63</c:v>
              </c:pt>
              <c:pt idx="20">
                <c:v>73.8</c:v>
              </c:pt>
              <c:pt idx="21">
                <c:v>72.1</c:v>
              </c:pt>
              <c:pt idx="22">
                <c:v>52.7</c:v>
              </c:pt>
              <c:pt idx="23">
                <c:v>40.4</c:v>
              </c:pt>
              <c:pt idx="24">
                <c:v>43.8</c:v>
              </c:pt>
              <c:pt idx="25">
                <c:v>45.5</c:v>
              </c:pt>
              <c:pt idx="26">
                <c:v>56.9</c:v>
              </c:pt>
              <c:pt idx="27">
                <c:v>77.7</c:v>
              </c:pt>
              <c:pt idx="28">
                <c:v>73.3</c:v>
              </c:pt>
              <c:pt idx="29">
                <c:v>61.8</c:v>
              </c:pt>
              <c:pt idx="30">
                <c:v>62.3</c:v>
              </c:pt>
              <c:pt idx="31">
                <c:v>68.5</c:v>
              </c:pt>
              <c:pt idx="32">
                <c:v>71.2</c:v>
              </c:pt>
              <c:pt idx="33">
                <c:v>78</c:v>
              </c:pt>
              <c:pt idx="34">
                <c:v>75</c:v>
              </c:pt>
              <c:pt idx="35">
                <c:v>74.1</c:v>
              </c:pt>
              <c:pt idx="36">
                <c:v>64.6</c:v>
              </c:pt>
            </c:numLit>
          </c:val>
          <c:smooth val="0"/>
        </c:ser>
        <c:dLbls>
          <c:showVal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EF2F7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EA"/>
              </a:solidFill>
              <a:prstDash val="solid"/>
            </a:ln>
          </c:spPr>
        </c:majorGridlines>
        <c:numFmt formatCode="General"/>
        <c:majorUnit val="25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4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3EB6266-D6A7-4151-9509-C5ADBA26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-822960"/>
            <a:ext cx="3108960" cy="2798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C89B3C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CDAB7DA-1A0D-4C03-8308-B1FCBB7B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1554480"/>
            <a:ext cx="1463040" cy="131673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C89B3C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1C56A04-9A04-499E-9A60-6DD8F815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2960" y="4937760"/>
            <a:ext cx="2377440" cy="21396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0AC8B9">
                <a:alpha val="28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46AFD0B-A835-4A7A-922E-22818D53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6035040"/>
            <a:ext cx="914400" cy="82296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0AC8B9">
                <a:alpha val="4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BD1A1E8-4174-4FBF-95AF-CF85140C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10515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 b="1" spc="300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EVIDENCE-BASED PERSONAL ANALYTICS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CA10AF3-8946-442D-A540-B1091D84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105156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5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LoL AI 분석 플랫폼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7918690-2C75-4ACB-ABEE-F53BC797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2900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000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증거 기반 개인 전적 분석 — 구현된 기능과 향후 방향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22B01D3-B39E-42DD-8B59-853CD219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98932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00">
                <a:solidFill>
                  <a:srgbClr val="8FA3BC"/>
                </a:solidFill>
                <a:latin typeface="Malgun Gothic"/>
                <a:ea typeface="Malgun Gothic"/>
                <a:cs typeface="Malgun Gothic"/>
              </a:rPr>
              <a:t>2026. 07. 21</a:t>
            </a:r>
          </a:p>
        </p:txBody>
      </p:sp>
    </p:spTree>
    <p:extLst>
      <p:ext uri="{BB962C8B-B14F-4D97-AF65-F5344CB8AC3E}">
        <p14:creationId xmlns:p14="http://schemas.microsoft.com/office/powerpoint/2010/main" val="15454428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D3881C-F4C8-4A23-8A34-C4AA72E9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0191C68-62C0-4800-BFBC-D0C1E98B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한 경기의 흐름과 반복되는 플레이를 함께 본다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B293C12-39B6-418A-8DBD-D8422472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C31973B-A658-4C03-A169-26B810E8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37360"/>
            <a:ext cx="5394960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BF3F2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76FD5E1-89C1-4B99-ADD5-E333E694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754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9B3B33"/>
                </a:solidFill>
                <a:latin typeface="Malgun Gothic"/>
                <a:ea typeface="Malgun Gothic"/>
                <a:cs typeface="Malgun Gothic"/>
              </a:rPr>
              <a:t>경기 단위 분석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8E4BC8B-2295-48BD-8949-1C1100D3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14600"/>
            <a:ext cx="475488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타임라인과 주요 사건 요약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비용·리드 전환 등 플레이 지표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미니맵 스냅샷과 킬·오브젝트 로그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분석 근거와 신뢰도 표시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8364B8A-A637-4139-AF7B-D43C7E99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37360"/>
            <a:ext cx="5394960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0F7F6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E66E793-A025-40D8-8FCC-E7D260F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65960"/>
            <a:ext cx="47548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0B7A70"/>
                </a:solidFill>
                <a:latin typeface="Malgun Gothic"/>
                <a:ea typeface="Malgun Gothic"/>
                <a:cs typeface="Malgun Gothic"/>
              </a:rPr>
              <a:t>누적 플레이 분석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D6C7EBB-715C-4A50-A8D5-EF7ADC1B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514600"/>
            <a:ext cx="4800600" cy="3474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역할·챔피언별 경기 기록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반복되는 사망 위치와 시간대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대표 경기와 평소 대비 변화</a:t>
            </a:r>
          </a:p>
          <a:p xmlns:a="http://schemas.openxmlformats.org/drawingml/2006/main">
            <a:pPr marL="342900" indent="-342900">
              <a:spcAft>
                <a:spcPts val="14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계산된 근거를 바탕으로 AI 요약</a:t>
            </a:r>
          </a:p>
        </p:txBody>
      </p:sp>
    </p:spTree>
    <p:extLst>
      <p:ext uri="{BB962C8B-B14F-4D97-AF65-F5344CB8AC3E}">
        <p14:creationId xmlns:p14="http://schemas.microsoft.com/office/powerpoint/2010/main" val="74415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77ED5F9-FE37-49FE-9C1B-A8F4C77C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CB2256-F400-45E2-ABFD-941B5A1F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데이터 파이프라인 — 숫자는 규칙이, 서술은 AI가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953B61C-FFD2-444C-A9A8-4A071EAB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FBF8887-F9BC-45BF-B962-2448EF9C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A1428"/>
          </a:solidFill>
          <a:ln xmlns:a="http://schemas.openxmlformats.org/drawingml/2006/main" w="12700">
            <a:solidFill>
              <a:srgbClr val="0A142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A095E82-6A06-4227-8C74-6833337B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Riot API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3DFF2F-3FCE-4DFD-821D-7D88F30F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경기·타임라인 수집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레이트리밋·캐시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5D858F5-948D-4269-A4EB-B17963FB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D4FCEA5-A943-4667-858C-40DFC8E0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784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12700">
            <a:solidFill>
              <a:srgbClr val="1632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C32FFF7-E3D0-483C-9C2B-1DC494A5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3784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PostgreSQL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777172D-928B-4AA9-A874-00F04A4B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원본 JSONB 보존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+ 정규화 테이블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EF3CD5C-B7CC-4490-8CB6-BE40F607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732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6C02638-A627-46CA-9BDC-0735054F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F4E6B"/>
          </a:solidFill>
          <a:ln xmlns:a="http://schemas.openxmlformats.org/drawingml/2006/main" w="12700">
            <a:solidFill>
              <a:srgbClr val="1F4E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F5A47EA-F128-4F12-8FD6-1E8FA3F9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분석 엔진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C2D335A-8A6D-4C98-92FF-F5837A32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지표 11종·에피소드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프로필·패턴 (규칙 계산)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6FD864D-B523-4C2B-93E6-4FB00B55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8876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6E2C356D-CAAB-4F91-AB70-364ADCA1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B7A70"/>
          </a:solidFill>
          <a:ln xmlns:a="http://schemas.openxmlformats.org/drawingml/2006/main" w="12700">
            <a:solidFill>
              <a:srgbClr val="0B7A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00B13BE-200D-4CEC-A6D6-7D569DC8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리포트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6E19920-E5D7-4609-B400-4E01CFE0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224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Gemini는 서술만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숫자·근거 강제 검증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B963B8B-67B9-4E75-900D-742C7444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4020" y="260604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912F6269-EBA7-40CE-91F7-B4B1397D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148840"/>
            <a:ext cx="1911096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5D88A3-2593-4EFD-A0E6-F73B8541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258568"/>
            <a:ext cx="191109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웹 UI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82DF785-9D91-44D6-BE03-A1E235C2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679192"/>
            <a:ext cx="176479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Next.js</a:t>
            </a:r>
          </a:p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E8EEF6"/>
                </a:solidFill>
                <a:latin typeface="Malgun Gothic"/>
                <a:ea typeface="Malgun Gothic"/>
                <a:cs typeface="Malgun Gothic"/>
              </a:rPr>
              <a:t>복기 화면·프로필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2275421-3641-4290-8643-D764B74D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11091672" cy="205740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2D559F53-8EF2-49CA-89FB-4A4BDAD6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설계 원칙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12E529E-694D-40B6-B765-62BF6B50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00016"/>
            <a:ext cx="1042416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모든 수치·패턴은 규칙 코드가 계산 — LLM은 새 숫자를 만들 수 없음 (환각 통제 + 비용 절감)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원본 JSONB 보존 + 지표 버전 관리 — 공식이 바뀌면 재수집 없이 전체 재계산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Docker Compose 로컬 스택 (FastAPI · Next.js · PostgreSQL 16) — 자동 회귀 테스트 통과 유지</a:t>
            </a:r>
          </a:p>
        </p:txBody>
      </p:sp>
    </p:spTree>
    <p:extLst>
      <p:ext uri="{BB962C8B-B14F-4D97-AF65-F5344CB8AC3E}">
        <p14:creationId xmlns:p14="http://schemas.microsoft.com/office/powerpoint/2010/main" val="24272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30FED3-1014-45B9-9278-B0AA83CD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1/4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686F27-1F29-4353-AF3F-8ECFD4DA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경기 복기 — 습관과 초반 흐름을 수치화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3AB1C5-FE66-4AFF-9BC2-0DE70B25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3452BCB-533B-44D3-ABD8-D6F50E297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8031096-6EB5-4AF3-927B-8A5D051F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48256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32B8DE8-24B8-4D12-AF58-244EFB2A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993392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코스트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B8D4388-6A70-4460-AA6B-901B7203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450592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내 데스 90초 안에 넘어간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오브젝트·골드 손실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E2EFA33-635A-40BC-ACE1-B7D2E29E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28800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C625C27-D573-4EB5-AA59-A7BD5870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2048256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66F864-D63E-40F9-9665-AECB1E95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1993392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스로우 인덱스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079B20-113B-47E8-9786-FAD91EF9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450592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유리할 때(+1000g)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죽어서 흐름을 내준 정도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3274801-554C-45F3-B590-787A1ADC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828800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5924F1A-5433-4EB9-9B69-02072F8F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048256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1F8F2AD-437E-42DC-A567-15A6FDDE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993392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골드 리텐션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9410B05-A087-4FC2-846D-844849CC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450592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킬 골드를 아이템으로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바꾸기 전에 잃는 습관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A8388BBF-C384-4217-957A-1E2D21A1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84448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0FE3736-E258-499A-837F-4BAE80D7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03904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6DD4EEB-C74E-4A87-9437-05F4FE83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749040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갬블러 지수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ACA71E8-229A-476A-B241-608C1F33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4206240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고립 데스·딥다이브 등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고위험 스타일 신호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BA88B75E-1F00-410F-97C5-F59CF373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584448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B9F68B9-5CA6-4003-A68D-815165ED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3803904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5B96055-0AB0-4D8E-90DF-EA51B53A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749040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한타 지속력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D8602A2-BE08-4C68-924A-5C967278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06240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교전 중 이탈/유지가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딜 지분에 남긴 흔적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C4BB765-CBDC-4DA9-A141-FE0B6DCA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584448"/>
            <a:ext cx="3502152" cy="1481328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5402D9C3-4F1D-46EB-B5E5-A8221DC0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3803904"/>
            <a:ext cx="384048" cy="34747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D860D7E-5377-4727-9E7A-F1078E0B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749040"/>
            <a:ext cx="2679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가속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655986-7592-496E-894B-023F544F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4206240"/>
            <a:ext cx="3090672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한 번 죽은 뒤</a:t>
            </a:r>
          </a:p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연쇄 데스로 무너지는 패턴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DC88D91B-03CA-4321-8FD7-DB6E7AC5C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40680"/>
            <a:ext cx="11091672" cy="868680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0F7F6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4BD2F59-66AB-409D-87FA-EC588289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3212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+ 10분 자원 우세도 · 초반 교전 영향력 · 체력 압박 참고 신호</a:t>
            </a:r>
          </a:p>
          <a:p xmlns:a="http://schemas.openxmlformats.org/drawingml/2006/main">
            <a:pPr marL="0" indent="0">
              <a:buNone/>
              <a:def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오브젝트 준비 · 리드 전환 · 변곡점 · 킬/데스 히트맵</a:t>
            </a:r>
          </a:p>
        </p:txBody>
      </p:sp>
    </p:spTree>
    <p:extLst>
      <p:ext uri="{BB962C8B-B14F-4D97-AF65-F5344CB8AC3E}">
        <p14:creationId xmlns:p14="http://schemas.microsoft.com/office/powerpoint/2010/main" val="14453989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0AC390-AACD-4767-BC64-5BE68583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SCREENSHOT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60C8D1-C61B-4F62-9B23-08606BED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실제 화면 — 전적 리스트와 경기 복기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0916912-4EED-4D89-837A-3BC9C3F3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C0F0D2A-78B9-42B6-BB4E-9285892A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8640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16496b923403d"/>
          <a:srcRect xmlns:a="http://schemas.openxmlformats.org/drawingml/2006/main" l="-25498" t="0" r="-25498" b="0"/>
          <a:stretch xmlns:a="http://schemas.openxmlformats.org/drawingml/2006/main"/>
        </p:blipFill>
        <p:spPr>
          <a:xfrm xmlns:a="http://schemas.openxmlformats.org/drawingml/2006/main">
            <a:off x="713232" y="1828800"/>
            <a:ext cx="5157216" cy="420624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D2D5B25-9D36-4B22-A80C-8AB4A9D0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8251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승/패 컬러 매치 리스트 — 챔피언·KDA·딜·시야 한눈에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8C4FE9F-63C6-4DA6-958C-D01834A2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376672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7c47e26ea4b5b"/>
          <a:srcRect xmlns:a="http://schemas.openxmlformats.org/drawingml/2006/main" l="-25815" t="0" r="-25815" b="0"/>
          <a:stretch xmlns:a="http://schemas.openxmlformats.org/drawingml/2006/main"/>
        </p:blipFill>
        <p:spPr>
          <a:xfrm xmlns:a="http://schemas.openxmlformats.org/drawingml/2006/main">
            <a:off x="6400800" y="1828800"/>
            <a:ext cx="5102352" cy="4206240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2475C84-B40D-4207-9892-C0CABCDE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382512"/>
            <a:ext cx="53766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경기 복기 — 퍼포먼스 지표와 위험·스타일 신호 분리 표기</a:t>
            </a:r>
          </a:p>
        </p:txBody>
      </p:sp>
    </p:spTree>
    <p:extLst>
      <p:ext uri="{BB962C8B-B14F-4D97-AF65-F5344CB8AC3E}">
        <p14:creationId xmlns:p14="http://schemas.microsoft.com/office/powerpoint/2010/main" val="14777889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223C0C8-CBB6-49F1-88E7-5438BF53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2/4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CCE68C2-9EEA-4FDA-ADD3-F3A8166C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에피소드 엔진 — '그 데스가 비쌌는가'를 계산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F00D126-07D7-4CBE-9EC8-25F2B99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302E538-640D-46C9-8E97-C085881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74520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005BD9A-A780-43B3-B594-EF8C5CB6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21408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9FD9B3F-5444-4625-B4A5-57498665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965960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한타 클러스터링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E6FD7F9-EF8E-43FF-83E9-4D87B5CB5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킬·어시를 시간(≤20초)+거리(≤3500u)로 묶어 교전 단위 복원 — 위치 결측 시 신뢰도 라벨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1E72152A-7CCA-4F1E-8BB5-AF283E62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53512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DE2F830-A8E9-4D9C-9AF5-8C2694F3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00400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245204E-9D0C-4E1F-947C-E0ADA154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044952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오브젝트 ↔ 데스 귀속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716E2F0-A68D-4440-AF95-6EABF6D3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044952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용·바론이 살아있는 시간창에서, 내 데스 90초 내 상실만 연결 — 오브젝트 하나는 한 번만 계산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183B9F4-82B6-45C9-8AFD-C6390B01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32504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69CDDCE-5F10-4765-BFAD-9AFCECB4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279392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A8EB6CC-2E1A-424F-87F8-CA09F80A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123944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데스 부검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8D3AAC8-92DD-4D89-9EAE-A87B85DE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123944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'분석 가능한 데스' 분모를 명시 — 전체 데스가 아니라 판정 가능한 데스만으로 비율 산출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9EB70E1-D275-49D8-AA4C-7991478D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11496"/>
            <a:ext cx="11091672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C7D71CB-F48D-4869-8E36-6C8E469AA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58384"/>
            <a:ext cx="457200" cy="41148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0AC8B9"/>
          </a:solidFill>
          <a:ln xmlns:a="http://schemas.openxmlformats.org/drawingml/2006/main" w="1270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15DAF46-E8EF-4839-95BD-15DE44CC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5202936"/>
            <a:ext cx="31089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6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크로스 매치 패턴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E387E205-D2F1-4716-9D15-A62D1C15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5202936"/>
            <a:ext cx="67665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최근 N경기에서 반복되는 습관을 규칙으로 발굴 → 근거 경기 ID와 함께 제시</a:t>
            </a:r>
          </a:p>
        </p:txBody>
      </p:sp>
    </p:spTree>
    <p:extLst>
      <p:ext uri="{BB962C8B-B14F-4D97-AF65-F5344CB8AC3E}">
        <p14:creationId xmlns:p14="http://schemas.microsoft.com/office/powerpoint/2010/main" val="5267446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D4C83F-3ADF-4F9C-866B-2253117A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3/4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B8BBA9B-362D-4B36-9D54-83472E07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개인 프로필 — 한 판의 기복이 아닌 경향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33AAA13-5C85-4839-BBC4-01287AB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90C7278-916E-4573-AFBF-72D3FCAB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577840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7DB6D2C-8F69-4BA0-B8B0-40E90EC9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93392"/>
            <a:ext cx="49377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7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5차원 성향 프로필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29D15A5-F6E3-491C-900C-44A614D6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578608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ADD50A7-2A68-47F9-AC53-3C646A85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514600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초반 성장력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8CDAF9-1DCD-4064-954C-8BB56AE5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45536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7CDB52-5FF0-46F2-98F1-3A34E77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081528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자원 전환력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01276D8-6091-49E5-8861-CAA924A3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712464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C1B2AE7-AED0-4E62-A5AD-E86BFB2F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648456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위험 관리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630B8BB-FB43-45F0-A33F-934699F4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79392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E3CF06B-3192-42C9-865A-86C1F445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215384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오브젝트 준비도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4416E52E-F46C-4890-97CD-4C5FB0E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46320"/>
            <a:ext cx="274320" cy="24688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/>
          </a:solidFill>
          <a:ln xmlns:a="http://schemas.openxmlformats.org/drawingml/2006/main" w="1270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E0EF286-D1DE-417C-A392-BA23CCB8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782312"/>
            <a:ext cx="4206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교전 기여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3CD707B-DDC7-4EB5-89E3-07C45EC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94960"/>
            <a:ext cx="50292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6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최근 경기 가중(반감기 14일) + 표본 수축 보정</a:t>
            </a:r>
          </a:p>
          <a:p xmlns:a="http://schemas.openxmlformats.org/drawingml/2006/main">
            <a:pPr marL="342900" indent="-342900">
              <a:spcAft>
                <a:spcPts val="600"/>
              </a:spcAft>
              <a:buChar char="•"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코호트 퍼센타일은 '로컬 표본 기준' 명시 (과대 해석 차단)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9D7D0C3-8CDF-4572-AB7F-169A3655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83080"/>
            <a:ext cx="5239512" cy="4480560"/>
          </a:xfrm>
          <a:prstGeom xmlns:a="http://schemas.openxmlformats.org/drawingml/2006/main" prst="roundRect">
            <a:avLst>
              <a:gd name="adj" fmla="val 1633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2F52F5F-0419-4F09-A88B-32F7F6C3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7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대표 경기 자동 선정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B1D69870-1A4A-4033-B95A-8958E7F3E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560320"/>
            <a:ext cx="4617720" cy="100584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79F9EA1-F1C4-4092-9CF8-699C28B8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65176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대표 경기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044009C-AD2A-4634-86C8-AFF0C776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1752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내 평소 성향과 가장 가까운 판 — 복기 시작점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B85D74C-F831-4FE4-B2E0-5CB95244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49040"/>
            <a:ext cx="4617720" cy="100584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1FF7317-AAAF-417D-885B-969829F0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84048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최고 경기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29EC3AB-144C-4885-B17A-56691CDF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0624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데이터 커버리지 우선 + 최고 평균 — 강점 확인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2832BF7-887E-43DC-9367-0689CA0C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937760"/>
            <a:ext cx="4617720" cy="100584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09DCBB1-55C5-49CF-8244-04493070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029200"/>
            <a:ext cx="4114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50" b="1">
                <a:solidFill>
                  <a:srgbClr val="9B3B33"/>
                </a:solidFill>
                <a:latin typeface="Malgun Gothic"/>
                <a:ea typeface="Malgun Gothic"/>
                <a:cs typeface="Malgun Gothic"/>
              </a:rPr>
              <a:t>편차 경기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EA5169E-2DB2-4980-B64D-74E7A579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539496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평소와 가장 달랐던 판 — '최악'이 아니라 '달랐던'</a:t>
            </a:r>
          </a:p>
        </p:txBody>
      </p:sp>
    </p:spTree>
    <p:extLst>
      <p:ext uri="{BB962C8B-B14F-4D97-AF65-F5344CB8AC3E}">
        <p14:creationId xmlns:p14="http://schemas.microsoft.com/office/powerpoint/2010/main" val="7337146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273C2E4-DECE-4A8C-9579-D81003C2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SCREENSHOT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AE6F58-E8F1-49E9-861D-83CADD1B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1E2A3A"/>
                </a:solidFill>
                <a:latin typeface="Malgun Gothic"/>
                <a:ea typeface="Malgun Gothic"/>
                <a:cs typeface="Malgun Gothic"/>
              </a:rPr>
              <a:t>실제 화면 — 성향 프로필과 우세도 복기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F6B944-6548-4A22-BB5D-5A49713F0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6115037-A303-4DEB-8F28-B11F3713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548640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a13ba68268458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13232" y="2148840"/>
            <a:ext cx="5157216" cy="3840480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01454CF-786A-4863-891B-2C6DCA188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82512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5차원 성향 프로필 — 수축 보정·백분위·표본 라벨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C5250FC-46D2-465E-9CA4-DC29F084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691640"/>
            <a:ext cx="5376672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10141F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93c447a2e44dbd"/>
          <a:srcRect xmlns:a="http://schemas.openxmlformats.org/drawingml/2006/main" l="-25815" t="0" r="-25815" b="0"/>
          <a:stretch xmlns:a="http://schemas.openxmlformats.org/drawingml/2006/main"/>
        </p:blipFill>
        <p:spPr>
          <a:xfrm xmlns:a="http://schemas.openxmlformats.org/drawingml/2006/main">
            <a:off x="6400800" y="1828800"/>
            <a:ext cx="5102352" cy="4206240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D3C5654-D797-4256-8B47-74431496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6382512"/>
            <a:ext cx="53766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150">
                <a:solidFill>
                  <a:srgbClr val="5A6B7E"/>
                </a:solidFill>
                <a:latin typeface="Malgun Gothic"/>
                <a:ea typeface="Malgun Gothic"/>
                <a:cs typeface="Malgun Gothic"/>
              </a:rPr>
              <a:t>골드 격차 · 우세도 흐름 · 이 판의 변곡점 타임라인</a:t>
            </a:r>
          </a:p>
        </p:txBody>
      </p:sp>
    </p:spTree>
    <p:extLst>
      <p:ext uri="{BB962C8B-B14F-4D97-AF65-F5344CB8AC3E}">
        <p14:creationId xmlns:p14="http://schemas.microsoft.com/office/powerpoint/2010/main" val="11492638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5A92EA-8493-4E06-9871-5613A1D5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FEATURES 4/4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45B6644-A8D8-478C-A31E-4D693D8F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AI는 계산된 근거를 복기할 문장으로 바꾼다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BBACEE-FCF4-400E-9CB0-4CD571D1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D416EF7-B106-4231-AA04-019A1712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2651760" cy="123444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1F4E6B"/>
          </a:solidFill>
          <a:ln xmlns:a="http://schemas.openxmlformats.org/drawingml/2006/main" w="12700">
            <a:solidFill>
              <a:srgbClr val="1F4E6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98DAA8B-55A3-4C87-8252-DFDBB49E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39112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계산된 근거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B84D5E-38D6-47D1-A9E9-569E9B2F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23160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지표 · 이벤트 · 미니맵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신뢰도와 한계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629D7AB-CF02-444E-93E7-83ECF159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35000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0566584-AFD9-4FD2-97B3-91CAA4E1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168" y="1965960"/>
            <a:ext cx="4846320" cy="123444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9B3B33"/>
          </a:solidFill>
          <a:ln xmlns:a="http://schemas.openxmlformats.org/drawingml/2006/main" w="12700">
            <a:solidFill>
              <a:srgbClr val="9B3B3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4E57A1E2-3135-40D9-83F9-60871A98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168" y="2039112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해석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55E1D7A-CA02-42E3-885D-918CE964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423160"/>
            <a:ext cx="46634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반복 패턴을 요약하고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근거가 있는 피드백을 작성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C8BD948-AF0F-49A0-814C-751E1214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235000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9F0BA52-3F3C-4500-86E1-6E56036C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256" y="1965960"/>
            <a:ext cx="2651760" cy="123444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0B7A70"/>
          </a:solidFill>
          <a:ln xmlns:a="http://schemas.openxmlformats.org/drawingml/2006/main" w="12700">
            <a:solidFill>
              <a:srgbClr val="0B7A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32BFA45-DEFD-47A7-90C7-9C3C913D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256" y="2039112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복기 화면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AA5C384-8DD2-4EA7-B1A7-E55579F7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96" y="2423160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관찰 · 개선 제안</a:t>
            </a:r>
          </a:p>
          <a:p xmlns:a="http://schemas.openxmlformats.org/drawingml/2006/main">
            <a:pPr marL="0" indent="0"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다음 리플레이 질문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BBF75861-CACF-463B-837E-17D9AE69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1880"/>
            <a:ext cx="11091672" cy="256032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DF14098-E4BC-4F56-8828-4B4E8D1C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822192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AI 리포트가 쓰이는 곳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D66C920-990D-49B7-9FDB-FEFAD768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24528"/>
            <a:ext cx="1042416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경기 상세 — 주요 사건마다 상황과 손해 가능성을 설명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누적 리포트 — 최근 경기에서 반복되는 강점과 약점을 요약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복기 질문 — 리플레이에서 다시 확인할 장면을 제안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  <a:def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5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AI 응답이 없어도 같은 지표와 규칙 리포트를 그대로 제공</a:t>
            </a:r>
          </a:p>
        </p:txBody>
      </p:sp>
    </p:spTree>
    <p:extLst>
      <p:ext uri="{BB962C8B-B14F-4D97-AF65-F5344CB8AC3E}">
        <p14:creationId xmlns:p14="http://schemas.microsoft.com/office/powerpoint/2010/main" val="17398551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B064C52-68E8-43E0-BA2E-D23A6F4E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DATA &amp; ML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C5303D2-5B6C-4493-B450-B4D04B08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1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매 분의 경기 상태로 그 시점의 승리 가능성을 학습한다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0F5465A-B675-4672-9D96-8FB1D27B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D66796A-3C89-491F-A973-CEAE2010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486400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14C028-A23D-4545-8D44-1AF12B54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56816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실제 경기의 모델 예상 승률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AC95B6AE-3BDD-4F55-96D4-556D383E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32120"/>
            <a:ext cx="4846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실제 저장 경기 예시 · 0분부터 경기 종료까지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B2B7024-0F12-427D-ADF8-F5BC98ED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5330952" cy="4526280"/>
          </a:xfrm>
          <a:prstGeom xmlns:a="http://schemas.openxmlformats.org/drawingml/2006/main" prst="roundRect">
            <a:avLst>
              <a:gd name="adj" fmla="val 1616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AFA048A-1985-4CB2-B7D9-1FBFA0A9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56816"/>
            <a:ext cx="4754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모델은 이렇게 학습한다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85E6AC4-1F18-4CA7-8A23-5E714C62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5745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01  매 분 스냅샷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E7C706F-7B99-46C0-9FB8-C94BD793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5745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골드 · XP · CS · 타워 · 오브젝트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F1755FF-32C0-4C5B-AB4C-5E7DD3E7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2420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02  최종 승패 연결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337257E-289D-491F-9C71-42F1F6AA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2420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 b="1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각 시점에 그 경기의 최종 결과를 라벨로 부여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BF0C163-2BAF-4751-B651-88C1BA80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752975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현재 모델은 실험 단계이며 성능 게이트를 아직 통과하지 못했습니다.</a:t>
            </a:r>
          </a:p>
          <a:p xmlns:a="http://schemas.openxmlformats.org/drawingml/2006/main">
            <a:pPr marL="0" indent="0" algn="l">
              <a:buNone/>
              <a:def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그래프는 기능 검증용 실제 저장 경기 예시입니다.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A87B7C7-AD32-4C49-9B92-7DA34123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9095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03  경기 단위 검증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DA8DA954-62D6-4398-82AA-907C4D0AE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9095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같은 경기의 분 데이터가 학습과 테스트에 섞이지 않게 분리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CA0ED3C-9AB9-450C-A09C-661BA50F4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5770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7791F"/>
                </a:solidFill>
                <a:latin typeface="Noto Sans KR"/>
                <a:ea typeface="Noto Sans KR"/>
                <a:cs typeface="Noto Sans KR"/>
              </a:rPr>
              <a:t>04  분당 승률 출력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82AC483-3378-4E3B-BD05-323D6AB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57700"/>
            <a:ext cx="296227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미래 프레임 없이 해당 분까지의 정보로 예측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66A9AE6-FBF7-4D11-B029-5C6FAC6E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456432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42ED11BB-20F1-49EA-9B76-C9C5BD3C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456432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2C51D48-F662-4CB8-8860-BCA5EC71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3456432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EBCC9355-3B21-4147-8D2D-21F4DE3F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8496"/>
            <a:ext cx="1737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l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0573FEB-5323-4C11-B444-B56DAC45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3968496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2D8253C-DFC4-4E2B-801F-8CB9FB25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3968496"/>
            <a:ext cx="1051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66EEC209-A34A-408B-AEB4-B6981F3E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9880" y="3968496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9B3B33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742950" y="2333625"/>
          <a:ext xmlns:a="http://schemas.openxmlformats.org/drawingml/2006/main" cx="5048250" cy="3105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d2e7a759a1410c"/>
          </a:graphicData>
        </a:graphic>
      </p:graphicFrame>
    </p:spTree>
    <p:extLst>
      <p:ext uri="{BB962C8B-B14F-4D97-AF65-F5344CB8AC3E}">
        <p14:creationId xmlns:p14="http://schemas.microsoft.com/office/powerpoint/2010/main" val="17814081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A910FD-DDD5-42BB-B2C4-252C403D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6868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 b="1">
                <a:solidFill>
                  <a:srgbClr val="D29B2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D29B2E"/>
                </a:solidFill>
                <a:latin typeface="Noto Sans KR"/>
                <a:ea typeface="Noto Sans KR"/>
                <a:cs typeface="Noto Sans KR"/>
              </a:rPr>
              <a:t>확장 기능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47D0F47-EBFB-4401-A7B3-1FD2B467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31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defRPr>
            </a:pPr>
            <a:r>
              <a:rPr sz="3150" b="1">
                <a:solidFill>
                  <a:srgbClr val="1E2A3A"/>
                </a:solidFill>
                <a:latin typeface="Noto Sans KR"/>
                <a:ea typeface="Noto Sans KR"/>
                <a:cs typeface="Noto Sans KR"/>
              </a:rPr>
              <a:t>선택형 로컬 수집 — 경기 후 분석을 더 세밀하게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31EFB7A-8D84-4632-9D45-A5742EE6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320040"/>
            <a:ext cx="502920" cy="452628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C89B3C">
              <a:alpha val="45000"/>
            </a:srgbClr>
          </a:solidFill>
          <a:ln xmlns:a="http://schemas.openxmlformats.org/drawingml/2006/main" w="12700">
            <a:solidFill>
              <a:srgbClr val="C89B3C">
                <a:alpha val="4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895D09-A2D2-4990-8BFE-2B3DA959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1020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46E4BB0-0A6F-4420-8857-D9F888B94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게임 감지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1E0CA36-0DF3-4D41-860F-A639CED0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rPr>
              <a:t>게임 시작을 감지하고</a:t>
            </a:r>
          </a:p>
          <a:p xmlns:a="http://schemas.openxmlformats.org/drawingml/2006/main">
            <a:pPr marL="0" indent="0" algn="ctr">
              <a:buNone/>
              <a:def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rPr>
              <a:t>1초마다 상태를 확인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028D80F-1907-4679-B809-569A3067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6" y="256032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21DA9F3-8D4E-429C-876C-169FFD5C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57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1020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DEF8D3D-42B2-4C85-9A2E-E71E9F5D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57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로컬 버퍼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292BBD1-0082-4785-A6BF-2A49EAD9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901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rPr>
              <a:t>체력·골드·이벤트를</a:t>
            </a:r>
          </a:p>
          <a:p xmlns:a="http://schemas.openxmlformats.org/drawingml/2006/main">
            <a:pPr marL="0" indent="0" algn="ctr">
              <a:buNone/>
              <a:def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rPr>
              <a:t>내 PC에 임시 저장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21C974C-DA63-4555-9C8C-174E18B8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5876" y="256032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B949B1-1542-444B-BC46-70BC3440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1020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84892C5-59C6-4AEF-AC74-D37F9CB5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E8C878"/>
                </a:solidFill>
                <a:latin typeface="Malgun Gothic"/>
                <a:ea typeface="Malgun Gothic"/>
                <a:cs typeface="Malgun Gothic"/>
              </a:rPr>
              <a:t>경기 종료 후 업로드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B25B2C7-A369-40F2-8795-690691CF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rPr>
              <a:t>전송이 끊겨도 이어서 업로드</a:t>
            </a:r>
          </a:p>
          <a:p xmlns:a="http://schemas.openxmlformats.org/drawingml/2006/main">
            <a:pPr marL="0" indent="0" algn="ctr">
              <a:buNone/>
              <a:def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E8EEF6"/>
                </a:solidFill>
                <a:latin typeface="Noto Sans KR"/>
                <a:ea typeface="Noto Sans KR"/>
                <a:cs typeface="Noto Sans KR"/>
              </a:rPr>
              <a:t>같은 경기는 중복 저장하지 않음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530ABE1-7DFA-4789-8A46-9FD882AF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806" y="256032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22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▸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800291B-E116-42D4-BF62-0B73116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5430" y="2103120"/>
            <a:ext cx="2484882" cy="1371600"/>
          </a:xfrm>
          <a:prstGeom xmlns:a="http://schemas.openxmlformats.org/drawingml/2006/main" prst="roundRect">
            <a:avLst>
              <a:gd name="adj" fmla="val 4667"/>
            </a:avLst>
          </a:prstGeom>
          <a:solidFill xmlns:a="http://schemas.openxmlformats.org/drawingml/2006/main">
            <a:srgbClr val="0B7A70"/>
          </a:solidFill>
          <a:ln xmlns:a="http://schemas.openxmlformats.org/drawingml/2006/main" w="12700">
            <a:solidFill>
              <a:srgbClr val="0B7A7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C52076E-1B6A-496A-A012-26F93012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5430" y="2231136"/>
            <a:ext cx="248488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전적 대조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B1A341FD-59DF-4757-8E0A-F73DA0DC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6870" y="2633472"/>
            <a:ext cx="230200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Riot ID와 시작 시각으로</a:t>
            </a:r>
          </a:p>
          <a:p xmlns:a="http://schemas.openxmlformats.org/drawingml/2006/main">
            <a:pPr marL="0" indent="0" algn="ctr">
              <a:buNone/>
              <a:defRPr sz="12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 전적에 자동 연결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130D6AD-D4FA-4197-8712-A8F889AB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1109167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9808FB3-3D7D-4541-9F86-7F98025B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32504"/>
            <a:ext cx="3108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사용자가 직접 켜는 선택 수집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F05B9FA-E7A4-40B4-B247-931F75B9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2504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경기 중에는 분석·조언을 표시하지 않고, 본인 게임만 수집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A3C87AE5-D8B6-44B2-B3A9-38D5F857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82312"/>
            <a:ext cx="1109167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35D2EA6-8E8F-4028-BCB8-3A8B44B3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37176"/>
            <a:ext cx="3108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분석 근거 보강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399303D-02B6-4C6B-A9EA-148D23EE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37176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초 단위 체력·골드 변화로 위험 구간과 사망 전후 흐름을 더 세밀하게 복기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D2DCA7-77B3-40FF-BA1E-5FDF70A6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86984"/>
            <a:ext cx="11091672" cy="676656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3F6FB"/>
          </a:solidFill>
          <a:ln xmlns:a="http://schemas.openxmlformats.org/drawingml/2006/main" w="9525">
            <a:solidFill>
              <a:srgbClr val="E2E8F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D32A639-D64B-4263-86FE-3095AA76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41848"/>
            <a:ext cx="31089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가볍게 실행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C492021-2964-479D-BC60-49B2933A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641848"/>
            <a:ext cx="73152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defRPr>
            </a:pPr>
            <a:r>
              <a:rPr sz="1275">
                <a:solidFill>
                  <a:srgbClr val="334155"/>
                </a:solidFill>
                <a:latin typeface="Noto Sans KR"/>
                <a:ea typeface="Noto Sans KR"/>
                <a:cs typeface="Noto Sans KR"/>
              </a:rPr>
              <a:t>게임 PC에서 실행하는 가벼운 단일 프로그램</a:t>
            </a:r>
          </a:p>
        </p:txBody>
      </p:sp>
    </p:spTree>
    <p:extLst>
      <p:ext uri="{BB962C8B-B14F-4D97-AF65-F5344CB8AC3E}">
        <p14:creationId xmlns:p14="http://schemas.microsoft.com/office/powerpoint/2010/main" val="1937070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142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4A0E329-E7B5-4456-A7FF-32977B60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-640080"/>
            <a:ext cx="3429000" cy="197510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C89B3C">
                <a:alpha val="35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149B8A7-63BD-496E-8614-4BD08139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31520" y="5303520"/>
            <a:ext cx="2011680" cy="1810512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2700">
            <a:solidFill>
              <a:srgbClr val="0AC8B9">
                <a:alpha val="3000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8C02341-9C44-4FAC-BCFA-D5CDE78B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04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300" b="1" spc="200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ROADMAP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2306C4B-E669-47D2-A393-9F4A8790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76656"/>
            <a:ext cx="106070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향후 방향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C28BC5-7A44-499D-BFD6-E5CB8202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01368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471C769-7AF5-4745-B18D-3F52A8E2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01368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F0FA254-C5EB-4029-97B9-A53BFF87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91640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역할별 플레이 분석 확장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D95D959-C534-4A8A-AF8F-A0C3BE55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91640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rPr>
              <a:t>탑·정글·미드·원딜·서포터마다 다른 역할과 판단 기준으로 지표를 분리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D34D532-F154-4333-ACD5-70C04B71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34056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916BC8-3C21-4ECF-A769-2F94208F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34056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F5B34CB-92EA-41DF-B000-26D83FAA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24328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지표 신뢰도 높이기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6733185-649C-49E5-B9C8-6D71988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624328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rPr>
              <a:t>패치·티어·챔피언 상성별 기준값을 쌓고, 리플레이 검증으로 점수와 신뢰도를 보정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7050A6F-D7F2-47C0-AEF7-6F2638A7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66744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C89B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54F478-1DB9-498C-9DDA-8DBFC5F2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66744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C89B3C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1F66EF7-4F28-409A-897A-ABA5AC86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557016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분당 승률 모델 개선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309B4BA-0392-434E-A545-7989333D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57016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rPr>
              <a:t>더 다양한 경기로 학습하고, 검증 기준을 통과한 모델만 서비스에 반영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777C708-0279-4C62-B8DA-F7A8795B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99432"/>
            <a:ext cx="566928" cy="51206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0203A"/>
          </a:solidFill>
          <a:ln xmlns:a="http://schemas.openxmlformats.org/drawingml/2006/main" w="19050">
            <a:solidFill>
              <a:srgbClr val="0AC8B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E509875-0973-48BD-8C68-AC03DC3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99432"/>
            <a:ext cx="566928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0AC8B9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3EA52C7-8FC2-4C72-B85E-35F7027B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489704"/>
            <a:ext cx="3931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리플레이 분석 확장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0F46D65-481C-49F7-A082-E0BAE44B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89704"/>
            <a:ext cx="6217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B8C4D1"/>
                </a:solidFill>
                <a:latin typeface="Noto Sans KR"/>
                <a:ea typeface="Noto Sans KR"/>
                <a:cs typeface="Noto Sans KR"/>
              </a:rPr>
              <a:t>미니맵에서 10인 위치와 시야를 추출해 주요 장면의 판단 근거를 보강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D2207AF-F9CF-46B5-A4A2-D62765BA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1분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76480CB-112D-4EDD-BF10-3687D3C5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승률 예측 단위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37B0109-20B9-4F4D-B6DE-88E3708A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33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11종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70C365B-3FEC-4922-8649-C74974D6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경기 지표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6F96E928-962E-4216-BA6D-402CC412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30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근거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3F86EBB3-2BD7-456F-A605-BBE86933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AI 입력 원칙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BEC50F5-6BB0-4964-86DC-D034A0E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5486400"/>
            <a:ext cx="24688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0B7A70"/>
                </a:solidFill>
                <a:latin typeface="Noto Sans KR"/>
                <a:ea typeface="Noto Sans KR"/>
                <a:cs typeface="Noto Sans KR"/>
              </a:rPr>
              <a:t>경기 후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F4708AB2-87C0-4E92-B43D-4CB50B60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6126480"/>
            <a:ext cx="24688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  <a:def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5A6B7E"/>
                </a:solidFill>
                <a:latin typeface="Noto Sans KR"/>
                <a:ea typeface="Noto Sans KR"/>
                <a:cs typeface="Noto Sans KR"/>
              </a:rPr>
              <a:t>분석 범위</a:t>
            </a:r>
          </a:p>
        </p:txBody>
      </p:sp>
    </p:spTree>
    <p:extLst>
      <p:ext uri="{BB962C8B-B14F-4D97-AF65-F5344CB8AC3E}">
        <p14:creationId xmlns:p14="http://schemas.microsoft.com/office/powerpoint/2010/main" val="50989414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2026-07-20T02:05:25.5550000Z</dcterms:created>
  <dcterms:modified xsi:type="dcterms:W3CDTF">2026-07-20T02:05:25.5560000Z</dcterms:modified>
</coreProperties>
</file>