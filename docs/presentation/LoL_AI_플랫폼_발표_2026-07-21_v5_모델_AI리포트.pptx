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2b6404f52419d" /><Relationship Type="http://schemas.openxmlformats.org/officeDocument/2006/relationships/extended-properties" Target="/docProps/app.xml" Id="R3096610d5fce429b" /><Relationship Type="http://schemas.openxmlformats.org/officeDocument/2006/relationships/officeDocument" Target="/ppt/presentation.xml" Id="R721bbc440f4e46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6bff56d89464a"/>
  </p:sldMasterIdLst>
  <p:notesMasterIdLst>
    <p:notesMasterId xmlns:r="http://schemas.openxmlformats.org/officeDocument/2006/relationships" r:id="R32794a0aa4ab449e"/>
  </p:notesMasterIdLst>
  <p:sldIdLst>
    <p:sldId xmlns:r="http://schemas.openxmlformats.org/officeDocument/2006/relationships" id="256" r:id="Ra3d3ab1cc66f4a6e"/>
    <p:sldId xmlns:r="http://schemas.openxmlformats.org/officeDocument/2006/relationships" id="257" r:id="R9edfad2d02c24edb"/>
    <p:sldId xmlns:r="http://schemas.openxmlformats.org/officeDocument/2006/relationships" id="258" r:id="R9651d32e0c18411e"/>
    <p:sldId xmlns:r="http://schemas.openxmlformats.org/officeDocument/2006/relationships" id="259" r:id="R124cbab3989149fe"/>
    <p:sldId xmlns:r="http://schemas.openxmlformats.org/officeDocument/2006/relationships" id="260" r:id="R0e21470b6c9e4c39"/>
    <p:sldId xmlns:r="http://schemas.openxmlformats.org/officeDocument/2006/relationships" id="261" r:id="R6005f4d312e84c15"/>
    <p:sldId xmlns:r="http://schemas.openxmlformats.org/officeDocument/2006/relationships" id="262" r:id="R35a28c7af9994684"/>
    <p:sldId xmlns:r="http://schemas.openxmlformats.org/officeDocument/2006/relationships" id="263" r:id="Re7f434d5fb8b4c65"/>
    <p:sldId xmlns:r="http://schemas.openxmlformats.org/officeDocument/2006/relationships" id="264" r:id="R2f0a78e58b364a4a"/>
    <p:sldId xmlns:r="http://schemas.openxmlformats.org/officeDocument/2006/relationships" id="265" r:id="Re842ba7a6f604478"/>
    <p:sldId xmlns:r="http://schemas.openxmlformats.org/officeDocument/2006/relationships" id="266" r:id="R2232d82f114b42d5"/>
    <p:sldId xmlns:r="http://schemas.openxmlformats.org/officeDocument/2006/relationships" id="267" r:id="R0410f53c04f74f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b447036da94aa3" /><Relationship Type="http://schemas.openxmlformats.org/officeDocument/2006/relationships/slideMaster" Target="/ppt/slideMasters/slideMaster1.xml" Id="Rde36bff56d89464a" /><Relationship Type="http://schemas.openxmlformats.org/officeDocument/2006/relationships/notesMaster" Target="/ppt/notesMasters/notesMaster1.xml" Id="R32794a0aa4ab449e" /><Relationship Type="http://schemas.openxmlformats.org/officeDocument/2006/relationships/presProps" Target="/ppt/presProps.xml" Id="R14d80bfe1b4f4e92" /><Relationship Type="http://schemas.openxmlformats.org/officeDocument/2006/relationships/tableStyles" Target="/ppt/tableStyles.xml" Id="Ra6fde01a34884d64" /><Relationship Type="http://schemas.openxmlformats.org/officeDocument/2006/relationships/slide" Target="/ppt/slides/slide1.xml" Id="Ra3d3ab1cc66f4a6e" /><Relationship Type="http://schemas.openxmlformats.org/officeDocument/2006/relationships/slide" Target="/ppt/slides/slide2.xml" Id="R9edfad2d02c24edb" /><Relationship Type="http://schemas.openxmlformats.org/officeDocument/2006/relationships/slide" Target="/ppt/slides/slide3.xml" Id="R9651d32e0c18411e" /><Relationship Type="http://schemas.openxmlformats.org/officeDocument/2006/relationships/slide" Target="/ppt/slides/slide4.xml" Id="R124cbab3989149fe" /><Relationship Type="http://schemas.openxmlformats.org/officeDocument/2006/relationships/slide" Target="/ppt/slides/slide5.xml" Id="R0e21470b6c9e4c39" /><Relationship Type="http://schemas.openxmlformats.org/officeDocument/2006/relationships/slide" Target="/ppt/slides/slide6.xml" Id="R6005f4d312e84c15" /><Relationship Type="http://schemas.openxmlformats.org/officeDocument/2006/relationships/slide" Target="/ppt/slides/slide7.xml" Id="R35a28c7af9994684" /><Relationship Type="http://schemas.openxmlformats.org/officeDocument/2006/relationships/slide" Target="/ppt/slides/slide8.xml" Id="Re7f434d5fb8b4c65" /><Relationship Type="http://schemas.openxmlformats.org/officeDocument/2006/relationships/slide" Target="/ppt/slides/slide9.xml" Id="R2f0a78e58b364a4a" /><Relationship Type="http://schemas.openxmlformats.org/officeDocument/2006/relationships/slide" Target="/ppt/slides/slide10.xml" Id="Re842ba7a6f604478" /><Relationship Type="http://schemas.openxmlformats.org/officeDocument/2006/relationships/slide" Target="/ppt/slides/slide11.xml" Id="R2232d82f114b42d5" /><Relationship Type="http://schemas.openxmlformats.org/officeDocument/2006/relationships/slide" Target="/ppt/slides/slide12.xml" Id="R0410f53c04f7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13d6d1ce4e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5cc78caf2e4207" /><Relationship Type="http://schemas.openxmlformats.org/officeDocument/2006/relationships/notesMaster" Target="/ppt/notesMasters/notesMaster1.xml" Id="R6d83417aba4445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f25f6d679b491e" /><Relationship Type="http://schemas.openxmlformats.org/officeDocument/2006/relationships/notesMaster" Target="/ppt/notesMasters/notesMaster1.xml" Id="R455a976b1b3845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e14f7e6593457e" /><Relationship Type="http://schemas.openxmlformats.org/officeDocument/2006/relationships/notesMaster" Target="/ppt/notesMasters/notesMaster1.xml" Id="R944e00bf8ab9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627c2f98bd4610" /><Relationship Type="http://schemas.openxmlformats.org/officeDocument/2006/relationships/notesMaster" Target="/ppt/notesMasters/notesMaster1.xml" Id="R7fadac80ccb3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bd3c3b34e04e0f" /><Relationship Type="http://schemas.openxmlformats.org/officeDocument/2006/relationships/notesMaster" Target="/ppt/notesMasters/notesMaster1.xml" Id="Ra320e75a917c42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9c52fd6bf84e81" /><Relationship Type="http://schemas.openxmlformats.org/officeDocument/2006/relationships/notesMaster" Target="/ppt/notesMasters/notesMaster1.xml" Id="R23294eac016d46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57c2b854a440d9" /><Relationship Type="http://schemas.openxmlformats.org/officeDocument/2006/relationships/notesMaster" Target="/ppt/notesMasters/notesMaster1.xml" Id="R8cf6060db1664a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4490e7ddd4836" /><Relationship Type="http://schemas.openxmlformats.org/officeDocument/2006/relationships/notesMaster" Target="/ppt/notesMasters/notesMaster1.xml" Id="Rf1a5ce0dc63e49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3984385b3c47d1" /><Relationship Type="http://schemas.openxmlformats.org/officeDocument/2006/relationships/notesMaster" Target="/ppt/notesMasters/notesMaster1.xml" Id="Rb2640d79d09e48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7ef88c31fa42a7" /><Relationship Type="http://schemas.openxmlformats.org/officeDocument/2006/relationships/notesMaster" Target="/ppt/notesMasters/notesMaster1.xml" Id="R63ab0e14124143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f73fb8b2db4a38" /><Relationship Type="http://schemas.openxmlformats.org/officeDocument/2006/relationships/notesMaster" Target="/ppt/notesMasters/notesMaster1.xml" Id="Rc87a77db53774a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fdb5ab97494a2f" /><Relationship Type="http://schemas.openxmlformats.org/officeDocument/2006/relationships/notesMaster" Target="/ppt/notesMasters/notesMaster1.xml" Id="Rfdb90c9898a940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인사. 한 줄 요약: 전적 사이트가 보여주는 '숫자'가 아니라, 그 숫자의 '근거'를 보여주는 개인 분석 플랫폼을 만들고 있습니다. 오늘은 구현된 기능과 앞으로의 방향을 10분간 소개.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문제의식: 전적 사이트는 결과 숫자만 나열하고, 코칭 콘텐츠는 근거 없이 단정. 우리는 반대로 — 말할 수 있는 것(관측)과 추측(가설)을 구조적으로 분리하고, 모든 주장에 근거 ID를 답니다.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아키텍처는 단순한 5단계 파이프라인. 핵심 설계 결정 2가지 — (1) 숫자는 전부 규칙 코드가 계산하고 LLM은 서술만, (2) 원본 데이터를 보존하고 지표에 버전을 달아 공식 변경 시 재계산 가능.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경기 하나를 열면 나오는 것들. 일반 KDA가 아니라 습관을 수치화 — 예: 데스 코스트는 '내가 죽어서 팀이 실제로 뭘 잃었나'를 오브젝트 귀속으로 계산. 위험·스타일 신호는 실력 점수와 분리 표기.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서비스 화면. 왼쪽은 op.gg처럼 승패 색으로 구분되는 전적 리스트, 오른쪽은 경기 복기 화면 — 퍼포먼스 지표와 위험·스타일 신호가 분리 표기되는 걸 보여주세요.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지표의 신뢰도를 만드는 밑단. 예전엔 데스 4번에 용 1마리를 4번 중복 과금했는데, 에피소드 엔진이 1:1 귀속으로 고침. '분석 가능한 데스'라는 정직한 분모가 포인트.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'한 판은 실력이 아니다'를 시스템으로 구현. 5차원 프로필은 최근성 가중과 수축 보정으로 과대해석을 막고, 프로필과 같은 공식으로 대표/최고/편차 경기를 자동 선정해 복기 진입점을 만들어 줍니다.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개인 성향 프로필 — 점수마다 표본 보정과 백분위 기준이 라벨로 붙습니다. 오른쪽은 경기 흐름 — 우세도 곡선과 변곡점이 '몇 분에 무슨 일이 흐름을 바꿨나'를 짚어 줍니다.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LLM에게 '거짓말하지 마'라고 부탁하는 게 아니라, 거짓말이 통과할 수 없는 구조를 만들었습니다. 근거 ID 강제 + 숫자 존재 검증(한글 숫자 표기까지). 검증 실패 시 규칙 기반 리포트로 폴백하므로 서비스는 항상 동작.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ML은 파이프라인 자체가 산출물. 수집기를 만들어 55→550경기로 늘렸고, 로지스틱 모델이 수제 휴리스틱을 log loss와 캘리브레이션에서 이기기 시작 — 하지만 게이트(모든 지표 승리)를 통과할 때까지 교체하지 않습니다. '모델이 아직 못 이긴다'는 결론도 그대로 보고.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주 완성. Riot 공식 API에는 없는 '경기 중 초단위 데이터'를 내 게임에 한해 수집하는 로컬 프로그램. 경기 중에는 아무것도 보여주지 않는 수집 전용(정책 준수). 업로드는 멱등이라 재시도 안전, 끝나면 저장된 전적과 자동 대조. 이제 제 PC에 설치해 실사용 수집 시작.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앞으로: (1) 모델이 게이트를 이기면 교체 — 라이브 데이터가 피처가 됩니다. (2) 티어 라벨 코호트. (3) 가장 큰 차별화인 리플레이 CV — 피할 수 있던 데스 판정. (4) 하이라이트 쇼케이스. 마무리: 증거 없이는 말하지 않고, 모델은 이길 때만 채택한다는 원칙으로 계속 갑니다. 감사합니다.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8d0a14d794d5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5f8a25d0a4d21" /><Relationship Type="http://schemas.openxmlformats.org/officeDocument/2006/relationships/slideLayout" Target="/ppt/slideLayouts/slideLayout1.xml" Id="R4df7bfed226740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7bfed22674018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0de295ec64a09" /><Relationship Type="http://schemas.openxmlformats.org/officeDocument/2006/relationships/notesSlide" Target="/ppt/notesSlides/notesSlide1.xml" Id="Rde9c8082311e4c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bcd6a3df84a97" /><Relationship Type="http://schemas.openxmlformats.org/officeDocument/2006/relationships/notesSlide" Target="/ppt/notesSlides/notesSlide2.xml" Id="R9fdbca1cabac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349ca64c247ae" /><Relationship Type="http://schemas.openxmlformats.org/officeDocument/2006/relationships/notesSlide" Target="/ppt/notesSlides/notesSlide3.xml" Id="R5e05d435ca6f4a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7423bd91b4298" /><Relationship Type="http://schemas.openxmlformats.org/officeDocument/2006/relationships/notesSlide" Target="/ppt/notesSlides/notesSlide4.xml" Id="Rf0f2dce343bc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6e937ab843d4" /><Relationship Type="http://schemas.openxmlformats.org/officeDocument/2006/relationships/image" Target="/ppt/media/image.png" Id="R8a6fe00aaab04287" /><Relationship Type="http://schemas.openxmlformats.org/officeDocument/2006/relationships/image" Target="/ppt/media/image2.png" Id="R3fcd42e5750c4cd2" /><Relationship Type="http://schemas.openxmlformats.org/officeDocument/2006/relationships/notesSlide" Target="/ppt/notesSlides/notesSlide5.xml" Id="Ra53668293bc4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0e0edf9834b3b" /><Relationship Type="http://schemas.openxmlformats.org/officeDocument/2006/relationships/notesSlide" Target="/ppt/notesSlides/notesSlide6.xml" Id="Red879a8c18084d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7ed591f7c4b9b" /><Relationship Type="http://schemas.openxmlformats.org/officeDocument/2006/relationships/notesSlide" Target="/ppt/notesSlides/notesSlide7.xml" Id="Rad63679015c848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f156a0d6e4d05" /><Relationship Type="http://schemas.openxmlformats.org/officeDocument/2006/relationships/image" Target="/ppt/media/image3.png" Id="R1c5f15dd86814e7a" /><Relationship Type="http://schemas.openxmlformats.org/officeDocument/2006/relationships/image" Target="/ppt/media/image4.png" Id="Ree2f100a9e774afa" /><Relationship Type="http://schemas.openxmlformats.org/officeDocument/2006/relationships/notesSlide" Target="/ppt/notesSlides/notesSlide8.xml" Id="R6f3f98143e2246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b9b4fe1af4298" /><Relationship Type="http://schemas.openxmlformats.org/officeDocument/2006/relationships/notesSlide" Target="/ppt/notesSlides/notesSlide9.xml" Id="R1a154d68d50f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762d743274e2d" /><Relationship Type="http://schemas.openxmlformats.org/officeDocument/2006/relationships/chart" Target="/ppt/slides/charts/chart1.xml" Id="R11907c0f32114ba6" /><Relationship Type="http://schemas.openxmlformats.org/officeDocument/2006/relationships/notesSlide" Target="/ppt/notesSlides/notesSlide10.xml" Id="R9b88d62887594c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04678c71e4c7d" /><Relationship Type="http://schemas.openxmlformats.org/officeDocument/2006/relationships/notesSlide" Target="/ppt/notesSlides/notesSlide11.xml" Id="Ree495f20a8db41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23c36b2614e81" /><Relationship Type="http://schemas.openxmlformats.org/officeDocument/2006/relationships/notesSlide" Target="/ppt/notesSlides/notesSlide12.xml" Id="R8cc1089f6a1b407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블루팀 모델 예상 승률</c:v>
          </c:tx>
          <c:spPr>
            <a:solidFill xmlns:a="http://schemas.openxmlformats.org/drawingml/2006/main">
              <a:srgbClr val="0B7A70"/>
            </a:solidFill>
          </c:spPr>
          <c:marker>
            <c:symbol val="none"/>
          </c:marker>
          <c:dLbls/>
          <c:cat>
            <c:strLit>
              <c:ptCount val="37"/>
              <c:pt idx="0">
                <c:v>0분</c:v>
              </c:pt>
              <c:pt idx="1">
                <c:v>1분</c:v>
              </c:pt>
              <c:pt idx="2">
                <c:v>2분</c:v>
              </c:pt>
              <c:pt idx="3">
                <c:v>3분</c:v>
              </c:pt>
              <c:pt idx="4">
                <c:v>4분</c:v>
              </c:pt>
              <c:pt idx="5">
                <c:v>5분</c:v>
              </c:pt>
              <c:pt idx="6">
                <c:v>6분</c:v>
              </c:pt>
              <c:pt idx="7">
                <c:v>7분</c:v>
              </c:pt>
              <c:pt idx="8">
                <c:v>8분</c:v>
              </c:pt>
              <c:pt idx="9">
                <c:v>9분</c:v>
              </c:pt>
              <c:pt idx="10">
                <c:v>10분</c:v>
              </c:pt>
              <c:pt idx="11">
                <c:v>11분</c:v>
              </c:pt>
              <c:pt idx="12">
                <c:v>12분</c:v>
              </c:pt>
              <c:pt idx="13">
                <c:v>13분</c:v>
              </c:pt>
              <c:pt idx="14">
                <c:v>14분</c:v>
              </c:pt>
              <c:pt idx="15">
                <c:v>15분</c:v>
              </c:pt>
              <c:pt idx="16">
                <c:v>16분</c:v>
              </c:pt>
              <c:pt idx="17">
                <c:v>17분</c:v>
              </c:pt>
              <c:pt idx="18">
                <c:v>18분</c:v>
              </c:pt>
              <c:pt idx="19">
                <c:v>19분</c:v>
              </c:pt>
              <c:pt idx="20">
                <c:v>20분</c:v>
              </c:pt>
              <c:pt idx="21">
                <c:v>21분</c:v>
              </c:pt>
              <c:pt idx="22">
                <c:v>22분</c:v>
              </c:pt>
              <c:pt idx="23">
                <c:v>23분</c:v>
              </c:pt>
              <c:pt idx="24">
                <c:v>24분</c:v>
              </c:pt>
              <c:pt idx="25">
                <c:v>25분</c:v>
              </c:pt>
              <c:pt idx="26">
                <c:v>26분</c:v>
              </c:pt>
              <c:pt idx="27">
                <c:v>27분</c:v>
              </c:pt>
              <c:pt idx="28">
                <c:v>28분</c:v>
              </c:pt>
              <c:pt idx="29">
                <c:v>29분</c:v>
              </c:pt>
              <c:pt idx="30">
                <c:v>30분</c:v>
              </c:pt>
              <c:pt idx="31">
                <c:v>31분</c:v>
              </c:pt>
              <c:pt idx="32">
                <c:v>32분</c:v>
              </c:pt>
              <c:pt idx="33">
                <c:v>33분</c:v>
              </c:pt>
              <c:pt idx="34">
                <c:v>34분</c:v>
              </c:pt>
              <c:pt idx="35">
                <c:v>35분</c:v>
              </c:pt>
              <c:pt idx="36">
                <c:v>36분</c:v>
              </c:pt>
            </c:strLit>
          </c:cat>
          <c:val>
            <c:numLit>
              <c:formatCode>General</c:formatCode>
              <c:ptCount val="37"/>
              <c:pt idx="0">
                <c:v>52.7</c:v>
              </c:pt>
              <c:pt idx="1">
                <c:v>52.5</c:v>
              </c:pt>
              <c:pt idx="2">
                <c:v>47</c:v>
              </c:pt>
              <c:pt idx="3">
                <c:v>46.6</c:v>
              </c:pt>
              <c:pt idx="4">
                <c:v>51.2</c:v>
              </c:pt>
              <c:pt idx="5">
                <c:v>54</c:v>
              </c:pt>
              <c:pt idx="6">
                <c:v>44.7</c:v>
              </c:pt>
              <c:pt idx="7">
                <c:v>41.9</c:v>
              </c:pt>
              <c:pt idx="8">
                <c:v>38.3</c:v>
              </c:pt>
              <c:pt idx="9">
                <c:v>39.7</c:v>
              </c:pt>
              <c:pt idx="10">
                <c:v>60.8</c:v>
              </c:pt>
              <c:pt idx="11">
                <c:v>63.3</c:v>
              </c:pt>
              <c:pt idx="12">
                <c:v>60.5</c:v>
              </c:pt>
              <c:pt idx="13">
                <c:v>71.6</c:v>
              </c:pt>
              <c:pt idx="14">
                <c:v>73.5</c:v>
              </c:pt>
              <c:pt idx="15">
                <c:v>54.8</c:v>
              </c:pt>
              <c:pt idx="16">
                <c:v>51.7</c:v>
              </c:pt>
              <c:pt idx="17">
                <c:v>61.1</c:v>
              </c:pt>
              <c:pt idx="18">
                <c:v>65.2</c:v>
              </c:pt>
              <c:pt idx="19">
                <c:v>63</c:v>
              </c:pt>
              <c:pt idx="20">
                <c:v>73.8</c:v>
              </c:pt>
              <c:pt idx="21">
                <c:v>72.1</c:v>
              </c:pt>
              <c:pt idx="22">
                <c:v>52.7</c:v>
              </c:pt>
              <c:pt idx="23">
                <c:v>40.4</c:v>
              </c:pt>
              <c:pt idx="24">
                <c:v>43.8</c:v>
              </c:pt>
              <c:pt idx="25">
                <c:v>45.5</c:v>
              </c:pt>
              <c:pt idx="26">
                <c:v>56.9</c:v>
              </c:pt>
              <c:pt idx="27">
                <c:v>77.7</c:v>
              </c:pt>
              <c:pt idx="28">
                <c:v>73.3</c:v>
              </c:pt>
              <c:pt idx="29">
                <c:v>61.8</c:v>
              </c:pt>
              <c:pt idx="30">
                <c:v>62.3</c:v>
              </c:pt>
              <c:pt idx="31">
                <c:v>68.5</c:v>
              </c:pt>
              <c:pt idx="32">
                <c:v>71.2</c:v>
              </c:pt>
              <c:pt idx="33">
                <c:v>78</c:v>
              </c:pt>
              <c:pt idx="34">
                <c:v>75</c:v>
              </c:pt>
              <c:pt idx="35">
                <c:v>74.1</c:v>
              </c:pt>
              <c:pt idx="36">
                <c:v>64.6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2F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Unit val="25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EB6266-D6A7-4151-9509-C5ADBA26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822960"/>
            <a:ext cx="3108960" cy="2798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DAB7DA-1A0D-4C03-8308-B1FCBB7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54480"/>
            <a:ext cx="1463040" cy="1316736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C56A04-9A04-499E-9A60-6DD8F815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377440" cy="2139696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6AFD0B-A835-4A7A-922E-22818D5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035040"/>
            <a:ext cx="914400" cy="82296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D1A1E8-4174-4FBF-95AF-CF85140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 spc="30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EVIDENCE-BASED PERSONAL ANALYTICS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A10AF3-8946-442D-A540-B1091D8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105156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LoL AI 분석 플랫폼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918690-2C75-4ACB-ABEE-F53BC797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증거 기반 개인 전적 분석 — 구현된 기능과 향후 방향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22B01D3-B39E-42DD-8B59-853CD21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2026. 07. 21</a:t>
            </a:r>
          </a:p>
        </p:txBody>
      </p:sp>
    </p:spTree>
    <p:extLst>
      <p:ext uri="{BB962C8B-B14F-4D97-AF65-F5344CB8AC3E}">
        <p14:creationId xmlns:p14="http://schemas.microsoft.com/office/powerpoint/2010/main" val="1545442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D3881C-F4C8-4A23-8A34-C4AA72E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191C68-62C0-4800-BFBC-D0C1E98B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 경기의 흐름과 반복되는 플레이를 함께 본다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293C12-39B6-418A-8DBD-D842247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C31973B-A658-4C03-A169-26B810E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BF3F2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6FD5E1-89C1-4B99-ADD5-E333E694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경기 단위 분석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E4BC8B-2295-48BD-8949-1C1100D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타임라인과 주요 사건 요약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비용·리드 전환 등 플레이 지표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미니맵 스냅샷과 킬·오브젝트 로그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분석 근거와 신뢰도 표시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364B8A-A637-4139-AF7B-D43C7E9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66E793-A025-40D8-8FCC-E7D260F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누적 플레이 분석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D6C7EBB-715C-4A50-A8D5-EF7ADC1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14600"/>
            <a:ext cx="48006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역할·챔피언별 경기 기록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반복되는 사망 위치와 시간대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대표 경기와 평소 대비 변화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계산된 근거를 바탕으로 AI 요약</a:t>
            </a:r>
          </a:p>
        </p:txBody>
      </p:sp>
    </p:spTree>
    <p:extLst>
      <p:ext uri="{BB962C8B-B14F-4D97-AF65-F5344CB8AC3E}">
        <p14:creationId xmlns:p14="http://schemas.microsoft.com/office/powerpoint/2010/main" val="74415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7ED5F9-FE37-49FE-9C1B-A8F4C77C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CB2256-F400-45E2-ABFD-941B5A1F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데이터 파이프라인 — 숫자는 규칙이, 서술은 AI가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53B61C-FFD2-444C-A9A8-4A071EA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FBF8887-F9BC-45BF-B962-2448EF9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A1428"/>
          </a:solidFill>
          <a:ln xmlns:a="http://schemas.openxmlformats.org/drawingml/2006/main" w="12700">
            <a:solidFill>
              <a:srgbClr val="0A14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095E82-6A06-4227-8C74-6833337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Riot API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63DFF2F-3FCE-4DFD-821D-7D88F30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경기·타임라인 수집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레이트리밋·캐시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D858F5-948D-4269-A4EB-B17963F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588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D4FCEA5-A943-4667-858C-40DFC8E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32FFF7-E3D0-483C-9C2B-1DC494A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77172D-928B-4AA9-A874-00F04A4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원본 JSONB 보존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+ 정규화 테이블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F3CD5C-B7CC-4490-8CB6-BE40F60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732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C02638-A627-46CA-9BDC-0735054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F4E6B"/>
          </a:solidFill>
          <a:ln xmlns:a="http://schemas.openxmlformats.org/drawingml/2006/main" w="12700">
            <a:solidFill>
              <a:srgbClr val="1F4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5A47EA-F128-4F12-8FD6-1E8FA3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 엔진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C2D335A-8A6D-4C98-92FF-F5837A3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지표 10종·에피소드</a:t>
            </a:r>
          </a:p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프로필·패턴 (규칙 계산)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FD864D-B523-4C2B-93E6-4FB00B5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76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E2C356D-CAAB-4F91-AB70-364ADCA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0B13BE-200D-4CEC-A6D6-7D569DC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리포트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E19920-E5D7-4609-B400-4E01CFE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Gemini는 서술만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숫자·근거 강제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B963B8B-67B9-4E75-900D-742C7444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12F6269-EBA7-40CE-91F7-B4B1397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5D88A3-2593-4EFD-A0E6-F73B854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 UI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82DF785-9D91-44D6-BE03-A1E235C2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Next.js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복기 화면·프로필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2275421-3641-4290-8643-D764B74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1109167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D559F53-8EF2-49CA-89FB-4A4BDAD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12E529E-694D-40B6-B765-62BF6B5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10424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모든 수치·패턴은 규칙 코드가 계산 — LLM은 새 숫자를 만들 수 없음 (환각 통제 + 비용 절감)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원본 JSONB 보존 + 지표 버전 관리 — 공식이 바뀌면 재수집 없이 전체 재계산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Docker Compose 로컬 스택 (FastAPI · Next.js · PostgreSQL 16) — 테스트 223개 통과 유지</a:t>
            </a:r>
          </a:p>
        </p:txBody>
      </p:sp>
    </p:spTree>
    <p:extLst>
      <p:ext uri="{BB962C8B-B14F-4D97-AF65-F5344CB8AC3E}">
        <p14:creationId xmlns:p14="http://schemas.microsoft.com/office/powerpoint/2010/main" val="24272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30FED3-1014-45B9-9278-B0AA83C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1/4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686F27-1F29-4353-AF3F-8ECFD4D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3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경기 복기 — 습관과 초반 흐름을 수치화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3AB1C5-FE66-4AFF-9BC2-0DE70B25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452BCB-533B-44D3-ABD8-D6F50E29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031096-6EB5-4AF3-927B-8A5D051F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2B8DE8-24B8-4D12-AF58-244EFB2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코스트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D4388-6A70-4460-AA6B-901B720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내 데스 90초 안에 넘어간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오브젝트·골드 손실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2EFA33-635A-40BC-ACE1-B7D2E29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C625C27-D573-4EB5-AA59-A7BD587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66F864-D63E-40F9-9665-AECB1E9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스로우 인덱스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079B20-113B-47E8-9786-FAD91EF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유리할 때(+1000g)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죽어서 흐름을 내준 정도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274801-554C-45F3-B590-787A1AD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924F1A-5433-4EB9-9B69-02072F8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F8F2AD-437E-42DC-A567-15A6FDD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골드 리텐션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9410B05-A087-4FC2-846D-844849CC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킬 골드를 아이템으로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바꾸기 전에 잃는 습관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8388BBF-C384-4217-957A-1E2D21A1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FE3736-E258-499A-837F-4BAE80D7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DD4EEB-C74E-4A87-9437-05F4FE8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갬블러 지수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CA71E8-229A-476A-B241-608C1F3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고립 데스·딥다이브 등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고위험 스타일 신호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A88B75E-1F00-410F-97C5-F59CF37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B9F68B9-5CA6-4003-A68D-815165E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5B96055-0AB0-4D8E-90DF-EA51B53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한타 지속력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8602A2-BE08-4C68-924A-5C96727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교전 중 이탈/유지가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딜 지분에 남긴 흔적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C4BB765-CBDC-4DA9-A141-FE0B6DC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402D9C3-4F1D-46EB-B5E5-A8221DC0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860D7E-5377-4727-9E7A-F1078E0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가속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8655986-7592-496E-894B-023F544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한 번 죽은 뒤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연쇄 데스로 무너지는 패턴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C88D91B-03CA-4321-8FD7-DB6E7AC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4BD2F59-66AB-409D-87FA-EC58828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>+ 10분 라인 우세도 · 오브젝트 준비 · 리드 전환 · 변곡점 · 킬/데스 히트맵</a:t>
            </a:r>
          </a:p>
          <a:p xmlns:a="http://schemas.openxmlformats.org/drawingml/2006/main">
            <a:pPr marL="0" indent="0">
              <a:buNone/>
              <a:defRPr sz="135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>퍼포먼스와 위험·스타일 신호를 분리해 보여줍니다</a:t>
            </a:r>
          </a:p>
        </p:txBody>
      </p:sp>
    </p:spTree>
    <p:extLst>
      <p:ext uri="{BB962C8B-B14F-4D97-AF65-F5344CB8AC3E}">
        <p14:creationId xmlns:p14="http://schemas.microsoft.com/office/powerpoint/2010/main" val="144539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0AC390-AACD-4767-BC64-5BE6858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SCREENSHOT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60C8D1-C61B-4F62-9B23-08606BE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실제 화면 — 전적 리스트와 경기 복기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916912-4EED-4D89-837A-3BC9C3F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0F0D2A-78B9-42B6-BB4E-9285892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fe00aaab04287"/>
          <a:srcRect xmlns:a="http://schemas.openxmlformats.org/drawingml/2006/main" l="-25498" t="0" r="-25498" b="0"/>
          <a:stretch xmlns:a="http://schemas.openxmlformats.org/drawingml/2006/main"/>
        </p:blipFill>
        <p:spPr>
          <a:xfrm xmlns:a="http://schemas.openxmlformats.org/drawingml/2006/main">
            <a:off x="713232" y="1828800"/>
            <a:ext cx="5157216" cy="420624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2D5B25-9D36-4B22-A80C-8AB4A9D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8251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승/패 컬러 매치 리스트 — 챔피언·KDA·딜·시야 한눈에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8C4FE9F-63C6-4DA6-958C-D01834A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7667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42e5750c4cd2"/>
          <a:srcRect xmlns:a="http://schemas.openxmlformats.org/drawingml/2006/main" l="-25815" t="0" r="-25815" b="0"/>
          <a:stretch xmlns:a="http://schemas.openxmlformats.org/drawingml/2006/main"/>
        </p:blipFill>
        <p:spPr>
          <a:xfrm xmlns:a="http://schemas.openxmlformats.org/drawingml/2006/main">
            <a:off x="6400800" y="1828800"/>
            <a:ext cx="5102352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F2475C84-B40D-4207-9892-C0CABCDE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382512"/>
            <a:ext cx="5376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경기 복기 — 퍼포먼스 지표와 위험·스타일 신호 분리 표기</a:t>
            </a:r>
          </a:p>
        </p:txBody>
      </p:sp>
    </p:spTree>
    <p:extLst>
      <p:ext uri="{BB962C8B-B14F-4D97-AF65-F5344CB8AC3E}">
        <p14:creationId xmlns:p14="http://schemas.microsoft.com/office/powerpoint/2010/main" val="147778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23C0C8-CBB6-49F1-88E7-5438BF53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2/4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CE68C2-9EEA-4FDA-ADD3-F3A8166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에피소드 엔진 — '그 데스가 비쌌는가'를 계산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00D126-07D7-4CBE-9EC8-25F2B99F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02E538-640D-46C9-8E97-C085881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005BD9A-A780-43B3-B594-EF8C5CB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21408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FD9B3F-5444-4625-B4A5-5749866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6596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한타 클러스터링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6FD7F9-EF8E-43FF-83E9-4D87B5C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65960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킬·어시를 시간(≤20초)+거리(≤3500u)로 묶어 교전 단위 복원 — 위치 결측 시 신뢰도 라벨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72152A-7CCA-4F1E-8BB5-AF283E62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53512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E2F830-A8E9-4D9C-9AF5-8C2694F3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5204E-9D0C-4E1F-947C-E0ADA15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44952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오브젝트 ↔ 데스 귀속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16E2F0-A68D-4440-AF95-6EABF6D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44952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용·바론이 살아있는 시간창에서, 내 데스 90초 내 상실만 연결 — 오브젝트 하나는 한 번만 계산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183B9F4-82B6-45C9-8AFD-C6390B01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9CDDCE-5F10-4765-BFAD-9AFCECB4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9392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8EB6CC-2E1A-424F-87F8-CA09F80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23944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부검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D3AAC8-92DD-4D89-9EAE-A87B85D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23944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'분석 가능한 데스' 분모를 명시 — 전체 데스가 아니라 판정 가능한 데스만으로 비율 산출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9EB70E1-D275-49D8-AA4C-7991478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11496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C7D71CB-F48D-4869-8E36-6C8E469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358384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5DAF46-E8EF-4839-95BD-15DE44CC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02936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크로스 매치 패턴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387E205-D2F1-4716-9D15-A62D1C1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202936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최근 N경기에서 반복되는 습관을 규칙으로 발굴 → 근거 경기 ID와 함께 제시</a:t>
            </a:r>
          </a:p>
        </p:txBody>
      </p:sp>
    </p:spTree>
    <p:extLst>
      <p:ext uri="{BB962C8B-B14F-4D97-AF65-F5344CB8AC3E}">
        <p14:creationId xmlns:p14="http://schemas.microsoft.com/office/powerpoint/2010/main" val="526744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D4C83F-3ADF-4F9C-866B-2253117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3/4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8BBA9B-362D-4B36-9D54-83472E0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개인 프로필 — 한 판의 기복이 아닌 경향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3AAA13-5C85-4839-BBC4-01287AB3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90C7278-916E-4573-AFBF-72D3FCA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DB6D2C-8F69-4BA0-B8B0-40E90EC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3392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7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5차원 성향 프로필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D15A5-F6E3-491C-900C-44A614D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578608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DD50A7-2A68-47F9-AC53-3C646A85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51460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초반 성장력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8CDAF9-1DCD-4064-954C-8BB56AE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5536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7CDB52-5FF0-46F2-98F1-3A34E77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081528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자원 전환력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01276D8-6091-49E5-8861-CAA924A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12464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1B2AE7-AED0-4E62-A5AD-E86BFB2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648456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위험 관리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630B8BB-FB43-45F0-A33F-934699F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79392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3CF06B-3192-42C9-865A-86C1F44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15384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오브젝트 준비도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416E52E-F46C-4890-97CD-4C5FB0E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46320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E0EF286-D1DE-417C-A392-BA23CCB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782312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교전 기여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CD707B-DDC7-4EB5-89E3-07C45EC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6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최근 경기 가중(반감기 14일) + 표본 수축 보정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코호트 퍼센타일은 '로컬 표본 기준' 명시 (과대 해석 차단)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9D7D0C3-8CDF-4572-AB7F-169A3655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83080"/>
            <a:ext cx="5239512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F52F5F-0419-4F09-A88B-32F7F6C3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7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대표 경기 자동 선정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D69870-1A4A-4033-B95A-8958E7F3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6032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79F9EA1-F1C4-4092-9CF8-699C28B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대표 경기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044009C-AD2A-4634-86C8-AFF0C77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1752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내 평소 성향과 가장 가까운 판 — 복기 시작점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B85D74C-F831-4FE4-B2E0-5CB9524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4904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1FF7317-AAAF-417D-885B-969829F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최고 경기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29EC3AB-144C-4885-B17A-56691CD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0624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데이터 커버리지 우선 + 최고 평균 — 강점 확인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2832BF7-887E-43DC-9367-0689CA0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93776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09DCBB1-55C5-49CF-8244-0449307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편차 경기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EA5169E-2DB2-4980-B64D-74E7A57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39496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평소와 가장 달랐던 판 — '최악'이 아니라 '달랐던'</a:t>
            </a:r>
          </a:p>
        </p:txBody>
      </p:sp>
    </p:spTree>
    <p:extLst>
      <p:ext uri="{BB962C8B-B14F-4D97-AF65-F5344CB8AC3E}">
        <p14:creationId xmlns:p14="http://schemas.microsoft.com/office/powerpoint/2010/main" val="733714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73C2E4-DECE-4A8C-9579-D81003C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SCREENSHOT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AE6F58-E8F1-49E9-861D-83CADD1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실제 화면 — 성향 프로필과 우세도 복기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F6B944-6548-4A22-BB5D-5A49713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6115037-A303-4DEB-8F28-B11F371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f15dd86814e7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3232" y="2148840"/>
            <a:ext cx="5157216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1454CF-786A-4863-891B-2C6DCA1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8251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5차원 성향 프로필 — 수축 보정·백분위·표본 라벨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250FC-46D2-465E-9CA4-DC29F08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7667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f100a9e774afa"/>
          <a:srcRect xmlns:a="http://schemas.openxmlformats.org/drawingml/2006/main" l="-25815" t="0" r="-25815" b="0"/>
          <a:stretch xmlns:a="http://schemas.openxmlformats.org/drawingml/2006/main"/>
        </p:blipFill>
        <p:spPr>
          <a:xfrm xmlns:a="http://schemas.openxmlformats.org/drawingml/2006/main">
            <a:off x="6400800" y="1828800"/>
            <a:ext cx="5102352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D3C5654-D797-4256-8B47-7443149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382512"/>
            <a:ext cx="5376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골드 격차 · 우세도 흐름 · 이 판의 변곡점 타임라인</a:t>
            </a:r>
          </a:p>
        </p:txBody>
      </p:sp>
    </p:spTree>
    <p:extLst>
      <p:ext uri="{BB962C8B-B14F-4D97-AF65-F5344CB8AC3E}">
        <p14:creationId xmlns:p14="http://schemas.microsoft.com/office/powerpoint/2010/main" val="1149263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5A92EA-8493-4E06-9871-5613A1D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4/4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5B6644-A8D8-478C-A31E-4D693D8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3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AI는 계산된 근거를 복기할 문장으로 바꾼다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BBACEE-FCF4-400E-9CB0-4CD571D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416EF7-B106-4231-AA04-019A171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265176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F4E6B"/>
          </a:solidFill>
          <a:ln xmlns:a="http://schemas.openxmlformats.org/drawingml/2006/main" w="12700">
            <a:solidFill>
              <a:srgbClr val="1F4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8DAA8B-55A3-4C87-8252-DFDBB49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9112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계산된 근거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B84D5E-38D6-47D1-A9E9-569E9B2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지표 · 이벤트 · 미니맵</a:t>
            </a:r>
          </a:p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신뢰도와 한계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29D7AB-CF02-444E-93E7-83ECF15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350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566584-AFD9-4FD2-97B3-91CAA4E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1965960"/>
            <a:ext cx="484632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9B3B33"/>
          </a:solidFill>
          <a:ln xmlns:a="http://schemas.openxmlformats.org/drawingml/2006/main" w="12700">
            <a:solidFill>
              <a:srgbClr val="9B3B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57A1E2-3135-40D9-83F9-60871A98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039112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해석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5E1D7A-CA02-42E3-885D-918CE96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423160"/>
            <a:ext cx="4663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 패턴을 요약하고</a:t>
            </a:r>
          </a:p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근거가 있는 피드백을 작성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C8BD948-AF0F-49A0-814C-751E121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2350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F0BA52-3F3C-4500-86E1-6E56036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1965960"/>
            <a:ext cx="265176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2BFA45-DEFD-47A7-90C7-9C3C913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2039112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복기 화면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A5C384-8DD2-4EA7-B1A7-E55579F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423160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관찰 · 개선 제안</a:t>
            </a:r>
          </a:p>
          <a:p xmlns:a="http://schemas.openxmlformats.org/drawingml/2006/main">
            <a:pPr marL="0" indent="0"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리플레이 질문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BF75861-CACF-463B-837E-17D9AE6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91672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DF14098-E4BC-4F56-8828-4B4E8D1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8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AI 리포트가 쓰이는 곳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66C920-990D-49B7-9FDB-FEFAD76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24528"/>
            <a:ext cx="104241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경기 상세 — 주요 사건마다 상황과 손해 가능성을 설명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누적 리포트 — 최근 경기에서 반복되는 강점과 약점을 요약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복기 질문 — 리플레이에서 다시 확인할 장면을 제안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AI 응답이 없어도 같은 지표와 규칙 리포트를 그대로 제공</a:t>
            </a:r>
          </a:p>
        </p:txBody>
      </p:sp>
    </p:spTree>
    <p:extLst>
      <p:ext uri="{BB962C8B-B14F-4D97-AF65-F5344CB8AC3E}">
        <p14:creationId xmlns:p14="http://schemas.microsoft.com/office/powerpoint/2010/main" val="1739855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B064C52-68E8-43E0-BA2E-D23A6F4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DATA &amp; ML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5303D2-5B6C-4493-B450-B4D04B0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1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매 분의 경기 상태로 그 시점의 승리 가능성을 학습한다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F5465A-B675-4672-9D96-8FB1D27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D66796A-3C89-491F-A973-CEAE201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14C028-A23D-4545-8D44-1AF12B5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6816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실제 경기의 모델 예상 승률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C95B6AE-3BDD-4F55-96D4-556D383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실제 저장 경기 예시 · 0분부터 경기 종료까지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B2B7024-0F12-427D-ADF8-F5BC98E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83080"/>
            <a:ext cx="533095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AFA048A-1985-4CB2-B7D9-1FBFA0A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6816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모델은 이렇게 학습한다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85E6AC4-1F18-4CA7-8A23-5E714C62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rPr>
              <a:t>01  매 분 스냅샷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E7C706F-7B99-46C0-9FB8-C94BD79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2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골드 · XP · CS · 타워 · 오브젝트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F1755FF-32C0-4C5B-AB4C-5E7DD3E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rPr>
              <a:t>02  최종 승패 연결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337257E-289D-491F-9C71-42F1F6AA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275" b="1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각 시점에 그 경기의 최종 결과를 라벨로 부여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BF0C163-2BAF-4751-B651-88C1BA8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4752975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75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현재 모델은 실험 단계이며 성능 게이트를 아직 통과하지 못했습니다.</a:t>
            </a:r>
          </a:p>
          <a:p xmlns:a="http://schemas.openxmlformats.org/drawingml/2006/main">
            <a:pPr marL="0" indent="0" algn="l">
              <a:buNone/>
              <a:defRPr sz="1275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그래프는 기능 검증용 실제 저장 경기 예시입니다.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87B7C7-AD32-4C49-9B92-7DA3412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rPr>
              <a:t>03  경기 단위 검증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A8DA954-62D6-4398-82AA-907C4D0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2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같은 경기의 분 데이터가 학습과 테스트에 섞이지 않게 분리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A0ED3C-9AB9-450C-A09C-661BA50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7791F"/>
                </a:solidFill>
                <a:latin typeface="Noto Sans KR"/>
                <a:ea typeface="Noto Sans KR"/>
                <a:cs typeface="Noto Sans KR"/>
              </a:rPr>
              <a:t>04  분당 승률 출력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82AC483-3378-4E3B-BD05-323D6AB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75">
                <a:solidFill>
                  <a:srgbClr val="334155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미래 프레임 없이 해당 분까지의 정보로 예측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66A9AE6-FBF7-4D11-B029-5C6FAC6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456432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2ED11BB-20F1-49EA-9B76-C9C5BD3C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56432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2C51D48-F662-4CB8-8860-BCA5EC7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45643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BCC9355-3B21-4147-8D2D-21F4DE3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8496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0573FEB-5323-4C11-B444-B56DAC4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968496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2D8253C-DFC4-4E2B-801F-8CB9FB25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68496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EEC209-A34A-408B-AEB4-B6981F3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968496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9B3B3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742950" y="2333625"/>
          <a:ext xmlns:a="http://schemas.openxmlformats.org/drawingml/2006/main" cx="5048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907c0f32114ba6"/>
          </a:graphicData>
        </a:graphic>
      </p:graphicFrame>
    </p:spTree>
    <p:extLst>
      <p:ext uri="{BB962C8B-B14F-4D97-AF65-F5344CB8AC3E}">
        <p14:creationId xmlns:p14="http://schemas.microsoft.com/office/powerpoint/2010/main" val="1781408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A910FD-DDD5-42BB-B2C4-252C403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NEW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7D0F47-EBFB-4401-A7B3-1FD2B467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Live Client 컴패니언 — 내 게임을 실시간 수집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1EFB7A-8D84-4632-9D45-A5742EE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895D09-A2D2-4990-8BFE-2B3DA959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6E4BB0-0A6F-4420-8857-D9F888B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게임 감지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E0CA36-0DF3-4D41-860F-A639CED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로컬 Live Client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API 폴링 (1초)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28D80F-1907-4679-B809-569A306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94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21DA9F3-8D4E-429C-876C-169FFD5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EF8D3D-42B2-4C85-9A2E-E71E9F5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로컬 버퍼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92BBD1-0082-4785-A6BF-2A49EAD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SQLite 큐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체력·골드·이벤트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1C974C-DA63-4555-9C8C-174E18B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87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8B949B1-1542-444B-BC46-70BC344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4892C5-59C6-4AEF-AC74-D37F9CB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경기 종료 후 업로드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5B2C7-A369-40F2-8795-690691C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재시도 안전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(멱등 업로드)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530ABE1-7DFA-4789-8A46-9FD882A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80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00291B-E116-42D4-BF62-0B73116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C52076E-1B6A-496A-A012-26F9301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전적 대조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A341FD-59DF-4757-8E0A-F73DA0DC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87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riot id + 시작 시각으로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저장된 경기와 자동 연결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30D6AD-D4FA-4197-8712-A8F889A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808FB3-3D7D-4541-9F86-7F98025B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2504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수집 전용 · Opt-in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F05B9FA-E7A4-40B4-B247-931F75B9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2504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경기 중 어떤 분석·조언도 표시하지 않음 (정책 준수) — 본인 게임만 수집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3C87AE5-D8B6-44B2-B3A9-38D5F85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82312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35D2EA6-8E8F-4028-BCB8-3A8B44B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37176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Riot API에 없는 데이터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399303D-02B6-4C6B-A9EA-148D23E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37176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초단위 내 체력·골드·스탯 — 체력 기반 위험 판단, 틸트 신호 정밀화의 재료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CD2DCA7-77B3-40FF-BA1E-5FDF70A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86984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D32A639-D64B-4263-86FE-3095AA76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41848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설치형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492021-2964-479D-BC60-49B2933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41848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Python 표준 라이브러리만 사용한 단일 파일 — 게임 PC에서 바로 실행</a:t>
            </a:r>
          </a:p>
        </p:txBody>
      </p:sp>
    </p:spTree>
    <p:extLst>
      <p:ext uri="{BB962C8B-B14F-4D97-AF65-F5344CB8AC3E}">
        <p14:creationId xmlns:p14="http://schemas.microsoft.com/office/powerpoint/2010/main" val="193707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A0E329-E7B5-4456-A7FF-32977B6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-640080"/>
            <a:ext cx="3429000" cy="197510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3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49B8A7-63BD-496E-8614-4BD0813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1520" y="5303520"/>
            <a:ext cx="2011680" cy="181051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C02341-9C44-4FAC-BCFA-D5CDE78B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06C4B-E669-47D2-A393-9F4A8790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향후 방향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6C28BC5-7A44-499D-BFD6-E5CB820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1368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71C769-7AF5-4745-B18D-3F52A8E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1368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F0FA254-C5EB-4029-97B9-A53BFF87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91640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분당 승률 모델 고도화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95D959-C534-4A8A-AF8F-A0C3BE5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91640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solidFill>
                  <a:srgbClr val="B8C4D1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B8C4D1"/>
                </a:solidFill>
                <a:latin typeface="Noto Sans KR"/>
                <a:ea typeface="Noto Sans KR"/>
                <a:cs typeface="Noto Sans KR"/>
              </a:rPr>
              <a:t>시간별 경기 상태로 승률을 예측하고, 검증 기준을 통과한 모델만 교체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34D532-F154-4333-ACD5-70C04B7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34056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916BC8-3C21-4ECF-A769-2F94208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34056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5B34CB-92EA-41DF-B000-26D83FA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24328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티어 라벨 코호트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733185-649C-49E5-B9C8-6D71988C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4328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수집 시 티어 스냅샷 저장 → 프로필 퍼센타일이 티어 기준으로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050A6F-D7F2-47C0-AEF7-6F2638A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54F478-1DB9-498C-9DDA-8DBFC5F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1F66EF7-4F28-409A-897A-ABA5AC86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57016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리플레이 분석기 (C2)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309B4BA-0392-434E-A545-7989333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57016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리플레이 미니맵 CV → 10인 좌표·시야 실측 — '피할 수 있던 데스' 판정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777C708-0279-4C62-B8DA-F7A8795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E509875-0973-48BD-8C68-AC03DC31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3EA52C7-8FC2-4C72-B85E-35F7027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489704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하이라이트 &amp; 리플레이 시어터 (C3)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0F46D65-481C-49F7-A082-E0BAE44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89704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대표 장면 자동 후보 → 본인이 선택해 공개, 끝난 경기를 중계처럼 재생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D2207AF-F9CF-46B5-A4A2-D62765BA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330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>1분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76480CB-112D-4EDD-BF10-3687D3C5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승률 예측 단위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37B0109-20B9-4F4D-B6DE-88E3708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330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>10종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0C365B-3FEC-4922-8649-C74974D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경기 지표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96E928-962E-4216-BA6D-402CC41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300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F86EBB3-2BD7-456F-A605-BBE8693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AI 입력 원칙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BEC50F5-6BB0-4964-86DC-D034A0E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55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>경기 후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4708AB2-87C0-4E92-B43D-4CB50B6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분석 범위</a:t>
            </a:r>
          </a:p>
        </p:txBody>
      </p:sp>
    </p:spTree>
    <p:extLst>
      <p:ext uri="{BB962C8B-B14F-4D97-AF65-F5344CB8AC3E}">
        <p14:creationId xmlns:p14="http://schemas.microsoft.com/office/powerpoint/2010/main" val="5098941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2026-07-19T17:24:57.1120000Z</dcterms:created>
  <dcterms:modified xsi:type="dcterms:W3CDTF">2026-07-19T17:24:57.1120000Z</dcterms:modified>
</coreProperties>
</file>